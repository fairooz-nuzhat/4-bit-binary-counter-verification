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5143500" cx="9144000"/>
  <p:notesSz cx="6858000" cy="9144000"/>
  <p:embeddedFontLst>
    <p:embeddedFont>
      <p:font typeface="Roboto"/>
      <p:regular r:id="rId41"/>
      <p:bold r:id="rId42"/>
      <p:italic r:id="rId43"/>
      <p:boldItalic r:id="rId44"/>
    </p:embeddedFont>
    <p:embeddedFont>
      <p:font typeface="Lato"/>
      <p:regular r:id="rId45"/>
      <p:bold r:id="rId46"/>
      <p:italic r:id="rId47"/>
      <p:boldItalic r:id="rId48"/>
    </p:embeddedFont>
    <p:embeddedFont>
      <p:font typeface="Lexend"/>
      <p:regular r:id="rId49"/>
      <p:bold r:id="rId50"/>
    </p:embeddedFont>
    <p:embeddedFont>
      <p:font typeface="Merriweather"/>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C2AD9DB-7615-4DFD-9972-78A1817C5D34}">
  <a:tblStyle styleId="{5C2AD9DB-7615-4DFD-9972-78A1817C5D3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font" Target="fonts/Roboto-bold.fntdata"/><Relationship Id="rId41" Type="http://schemas.openxmlformats.org/officeDocument/2006/relationships/font" Target="fonts/Roboto-regular.fntdata"/><Relationship Id="rId44" Type="http://schemas.openxmlformats.org/officeDocument/2006/relationships/font" Target="fonts/Roboto-boldItalic.fntdata"/><Relationship Id="rId43" Type="http://schemas.openxmlformats.org/officeDocument/2006/relationships/font" Target="fonts/Roboto-italic.fntdata"/><Relationship Id="rId46" Type="http://schemas.openxmlformats.org/officeDocument/2006/relationships/font" Target="fonts/Lato-bold.fntdata"/><Relationship Id="rId45" Type="http://schemas.openxmlformats.org/officeDocument/2006/relationships/font" Target="fonts/La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Lato-boldItalic.fntdata"/><Relationship Id="rId47" Type="http://schemas.openxmlformats.org/officeDocument/2006/relationships/font" Target="fonts/Lato-italic.fntdata"/><Relationship Id="rId49" Type="http://schemas.openxmlformats.org/officeDocument/2006/relationships/font" Target="fonts/Lexend-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Merriweather-regular.fntdata"/><Relationship Id="rId50" Type="http://schemas.openxmlformats.org/officeDocument/2006/relationships/font" Target="fonts/Lexend-bold.fntdata"/><Relationship Id="rId53" Type="http://schemas.openxmlformats.org/officeDocument/2006/relationships/font" Target="fonts/Merriweather-italic.fntdata"/><Relationship Id="rId52" Type="http://schemas.openxmlformats.org/officeDocument/2006/relationships/font" Target="fonts/Merriweather-bold.fntdata"/><Relationship Id="rId11" Type="http://schemas.openxmlformats.org/officeDocument/2006/relationships/slide" Target="slides/slide5.xml"/><Relationship Id="rId10" Type="http://schemas.openxmlformats.org/officeDocument/2006/relationships/slide" Target="slides/slide4.xml"/><Relationship Id="rId54" Type="http://schemas.openxmlformats.org/officeDocument/2006/relationships/font" Target="fonts/Merriweather-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b2a3ed4002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b2a3ed4002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b2a3ed4002_0_6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b2a3ed4002_0_6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b2a3ed4002_0_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b2a3ed4002_0_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b2a3ed4002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b2a3ed4002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b2a3ed4002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b2a3ed4002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b2a3ed4002_0_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b2a3ed4002_0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b2a3ed4002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b2a3ed4002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b2a3ed4002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b2a3ed4002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b2a3ed4002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b2a3ed4002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b2a3ed4002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b2a3ed4002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b2a3ed4002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b2a3ed4002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b2a3ed4002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b2a3ed4002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b2a3ed4002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b2a3ed4002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b2a3ed4002_0_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b2a3ed4002_0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b2a3ed4002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b2a3ed4002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b2a3ed4002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b2a3ed4002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b2a3ed4002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b2a3ed4002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b2a3ed4002_0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b2a3ed4002_0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b2a3ed4002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b2a3ed4002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b2a3ed4002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b2a3ed4002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b2a3ed4002_0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b2a3ed4002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b2a3ed4002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b2a3ed4002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b2a3ed4002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b2a3ed4002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b2a3ed4002_0_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b2a3ed4002_0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b2a3ed4002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b2a3ed4002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b2a3ed4002_0_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b2a3ed4002_0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b2a3ed4002_0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b2a3ed4002_0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b2a3ed4002_0_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b2a3ed4002_0_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b2a3ed4002_0_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b2a3ed4002_0_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b2a3ed4002_0_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b2a3ed4002_0_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b2a3ed4002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b2a3ed4002_0_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b2a3ed4002_0_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b2a3ed4002_0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b2a3ed4002_0_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b2a3ed4002_0_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8136300" cy="824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b="1">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4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4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36.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4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18.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20.png"/><Relationship Id="rId4" Type="http://schemas.openxmlformats.org/officeDocument/2006/relationships/image" Target="../media/image23.png"/><Relationship Id="rId5" Type="http://schemas.openxmlformats.org/officeDocument/2006/relationships/image" Target="../media/image4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38.png"/><Relationship Id="rId6" Type="http://schemas.openxmlformats.org/officeDocument/2006/relationships/image" Target="../media/image5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27.png"/><Relationship Id="rId4" Type="http://schemas.openxmlformats.org/officeDocument/2006/relationships/image" Target="../media/image43.png"/><Relationship Id="rId5" Type="http://schemas.openxmlformats.org/officeDocument/2006/relationships/image" Target="../media/image26.png"/><Relationship Id="rId6"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32.png"/><Relationship Id="rId4" Type="http://schemas.openxmlformats.org/officeDocument/2006/relationships/image" Target="../media/image54.png"/><Relationship Id="rId5" Type="http://schemas.openxmlformats.org/officeDocument/2006/relationships/image" Target="../media/image3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58.png"/><Relationship Id="rId4" Type="http://schemas.openxmlformats.org/officeDocument/2006/relationships/image" Target="../media/image48.png"/><Relationship Id="rId5" Type="http://schemas.openxmlformats.org/officeDocument/2006/relationships/image" Target="../media/image3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50.png"/><Relationship Id="rId4" Type="http://schemas.openxmlformats.org/officeDocument/2006/relationships/image" Target="../media/image55.png"/><Relationship Id="rId5" Type="http://schemas.openxmlformats.org/officeDocument/2006/relationships/image" Target="../media/image4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45.png"/><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57.png"/><Relationship Id="rId4" Type="http://schemas.openxmlformats.org/officeDocument/2006/relationships/image" Target="../media/image4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5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51.png"/><Relationship Id="rId4" Type="http://schemas.openxmlformats.org/officeDocument/2006/relationships/image" Target="../media/image5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Verification of 4 Bit Binary Counter</a:t>
            </a:r>
            <a:endParaRPr b="1"/>
          </a:p>
        </p:txBody>
      </p:sp>
      <p:sp>
        <p:nvSpPr>
          <p:cNvPr id="65" name="Google Shape;65;p13"/>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Presented By: Nuzhat Fairooz Rity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69" name="Shape 69"/>
        <p:cNvGrpSpPr/>
        <p:nvPr/>
      </p:nvGrpSpPr>
      <p:grpSpPr>
        <a:xfrm>
          <a:off x="0" y="0"/>
          <a:ext cx="0" cy="0"/>
          <a:chOff x="0" y="0"/>
          <a:chExt cx="0" cy="0"/>
        </a:xfrm>
      </p:grpSpPr>
      <p:sp>
        <p:nvSpPr>
          <p:cNvPr id="70" name="Google Shape;70;p1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Testbench Flow</a:t>
            </a:r>
            <a:endParaRPr b="1"/>
          </a:p>
        </p:txBody>
      </p:sp>
      <p:pic>
        <p:nvPicPr>
          <p:cNvPr id="71" name="Google Shape;71;p14"/>
          <p:cNvPicPr preferRelativeResize="0"/>
          <p:nvPr/>
        </p:nvPicPr>
        <p:blipFill>
          <a:blip r:embed="rId3">
            <a:alphaModFix/>
          </a:blip>
          <a:stretch>
            <a:fillRect/>
          </a:stretch>
        </p:blipFill>
        <p:spPr>
          <a:xfrm>
            <a:off x="1840925" y="1901549"/>
            <a:ext cx="6083374" cy="2964525"/>
          </a:xfrm>
          <a:prstGeom prst="rect">
            <a:avLst/>
          </a:prstGeom>
          <a:noFill/>
          <a:ln>
            <a:noFill/>
          </a:ln>
        </p:spPr>
      </p:pic>
      <p:sp>
        <p:nvSpPr>
          <p:cNvPr id="72" name="Google Shape;72;p14"/>
          <p:cNvSpPr txBox="1"/>
          <p:nvPr/>
        </p:nvSpPr>
        <p:spPr>
          <a:xfrm>
            <a:off x="921000" y="1273386"/>
            <a:ext cx="70707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212529"/>
                </a:solidFill>
                <a:latin typeface="Roboto"/>
                <a:ea typeface="Roboto"/>
                <a:cs typeface="Roboto"/>
                <a:sym typeface="Roboto"/>
              </a:rPr>
              <a:t>The Top Module of a Four-bit binary counter is given above.</a:t>
            </a:r>
            <a:endParaRPr sz="1500">
              <a:solidFill>
                <a:srgbClr val="212529"/>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76" name="Shape 76"/>
        <p:cNvGrpSpPr/>
        <p:nvPr/>
      </p:nvGrpSpPr>
      <p:grpSpPr>
        <a:xfrm>
          <a:off x="0" y="0"/>
          <a:ext cx="0" cy="0"/>
          <a:chOff x="0" y="0"/>
          <a:chExt cx="0" cy="0"/>
        </a:xfrm>
      </p:grpSpPr>
      <p:sp>
        <p:nvSpPr>
          <p:cNvPr id="77" name="Google Shape;77;p15"/>
          <p:cNvSpPr txBox="1"/>
          <p:nvPr>
            <p:ph type="title"/>
          </p:nvPr>
        </p:nvSpPr>
        <p:spPr>
          <a:xfrm>
            <a:off x="754719" y="393750"/>
            <a:ext cx="7038900" cy="685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Signal Lists</a:t>
            </a:r>
            <a:endParaRPr b="1"/>
          </a:p>
        </p:txBody>
      </p:sp>
      <p:graphicFrame>
        <p:nvGraphicFramePr>
          <p:cNvPr id="78" name="Google Shape;78;p15"/>
          <p:cNvGraphicFramePr/>
          <p:nvPr/>
        </p:nvGraphicFramePr>
        <p:xfrm>
          <a:off x="754725" y="1209053"/>
          <a:ext cx="3000000" cy="3000000"/>
        </p:xfrm>
        <a:graphic>
          <a:graphicData uri="http://schemas.openxmlformats.org/drawingml/2006/table">
            <a:tbl>
              <a:tblPr>
                <a:noFill/>
                <a:tableStyleId>{5C2AD9DB-7615-4DFD-9972-78A1817C5D34}</a:tableStyleId>
              </a:tblPr>
              <a:tblGrid>
                <a:gridCol w="908475"/>
                <a:gridCol w="1021875"/>
                <a:gridCol w="5932900"/>
              </a:tblGrid>
              <a:tr h="381000">
                <a:tc>
                  <a:txBody>
                    <a:bodyPr/>
                    <a:lstStyle/>
                    <a:p>
                      <a:pPr indent="0" lvl="0" marL="0" rtl="0" algn="l">
                        <a:spcBef>
                          <a:spcPts val="0"/>
                        </a:spcBef>
                        <a:spcAft>
                          <a:spcPts val="0"/>
                        </a:spcAft>
                        <a:buNone/>
                      </a:pPr>
                      <a:r>
                        <a:rPr b="1" lang="en"/>
                        <a:t>Signals</a:t>
                      </a:r>
                      <a:endParaRPr b="1"/>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45818E"/>
                    </a:solidFill>
                  </a:tcPr>
                </a:tc>
                <a:tc>
                  <a:txBody>
                    <a:bodyPr/>
                    <a:lstStyle/>
                    <a:p>
                      <a:pPr indent="0" lvl="0" marL="0" rtl="0" algn="l">
                        <a:spcBef>
                          <a:spcPts val="0"/>
                        </a:spcBef>
                        <a:spcAft>
                          <a:spcPts val="0"/>
                        </a:spcAft>
                        <a:buNone/>
                      </a:pPr>
                      <a:r>
                        <a:rPr b="1" lang="en"/>
                        <a:t>Bit Width</a:t>
                      </a:r>
                      <a:endParaRPr b="1"/>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45818E"/>
                    </a:solidFill>
                  </a:tcPr>
                </a:tc>
                <a:tc>
                  <a:txBody>
                    <a:bodyPr/>
                    <a:lstStyle/>
                    <a:p>
                      <a:pPr indent="0" lvl="0" marL="0" rtl="0" algn="l">
                        <a:spcBef>
                          <a:spcPts val="0"/>
                        </a:spcBef>
                        <a:spcAft>
                          <a:spcPts val="0"/>
                        </a:spcAft>
                        <a:buNone/>
                      </a:pPr>
                      <a:r>
                        <a:rPr b="1" lang="en"/>
                        <a:t>Description</a:t>
                      </a:r>
                      <a:endParaRPr b="1"/>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45818E"/>
                    </a:solidFill>
                  </a:tcPr>
                </a:tc>
              </a:tr>
              <a:tr h="381000">
                <a:tc>
                  <a:txBody>
                    <a:bodyPr/>
                    <a:lstStyle/>
                    <a:p>
                      <a:pPr indent="0" lvl="0" marL="0" rtl="0" algn="l">
                        <a:spcBef>
                          <a:spcPts val="0"/>
                        </a:spcBef>
                        <a:spcAft>
                          <a:spcPts val="0"/>
                        </a:spcAft>
                        <a:buNone/>
                      </a:pPr>
                      <a:r>
                        <a:rPr lang="en"/>
                        <a:t>CLK</a:t>
                      </a:r>
                      <a:endParaRPr/>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rPr lang="en"/>
                        <a:t>Input Clock Frequency 50~100MHz.</a:t>
                      </a:r>
                      <a:endParaRPr/>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D0E0E3"/>
                    </a:solidFill>
                  </a:tcPr>
                </a:tc>
              </a:tr>
              <a:tr h="381000">
                <a:tc>
                  <a:txBody>
                    <a:bodyPr/>
                    <a:lstStyle/>
                    <a:p>
                      <a:pPr indent="0" lvl="0" marL="0" rtl="0" algn="l">
                        <a:spcBef>
                          <a:spcPts val="0"/>
                        </a:spcBef>
                        <a:spcAft>
                          <a:spcPts val="0"/>
                        </a:spcAft>
                        <a:buNone/>
                      </a:pPr>
                      <a:r>
                        <a:rPr lang="en"/>
                        <a:t>reset</a:t>
                      </a:r>
                      <a:endParaRPr/>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rPr lang="en"/>
                        <a:t>Input control signal. Active Low synchronous reset signal which resets the circuit when reset = 0.</a:t>
                      </a:r>
                      <a:endParaRPr/>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D0E0E3"/>
                    </a:solidFill>
                  </a:tcPr>
                </a:tc>
              </a:tr>
              <a:tr h="381000">
                <a:tc>
                  <a:txBody>
                    <a:bodyPr/>
                    <a:lstStyle/>
                    <a:p>
                      <a:pPr indent="0" lvl="0" marL="0" rtl="0" algn="l">
                        <a:spcBef>
                          <a:spcPts val="0"/>
                        </a:spcBef>
                        <a:spcAft>
                          <a:spcPts val="0"/>
                        </a:spcAft>
                        <a:buNone/>
                      </a:pPr>
                      <a:r>
                        <a:rPr lang="en"/>
                        <a:t>Enable</a:t>
                      </a:r>
                      <a:endParaRPr/>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rPr lang="en"/>
                        <a:t>Input control signal. It works as Chip Enable.</a:t>
                      </a:r>
                      <a:endParaRPr/>
                    </a:p>
                    <a:p>
                      <a:pPr indent="0" lvl="0" marL="0" rtl="0" algn="l">
                        <a:spcBef>
                          <a:spcPts val="0"/>
                        </a:spcBef>
                        <a:spcAft>
                          <a:spcPts val="0"/>
                        </a:spcAft>
                        <a:buNone/>
                      </a:pPr>
                      <a:r>
                        <a:rPr lang="en"/>
                        <a:t>Enable = 0, The circuit keeps its current state of A_count and C_out.</a:t>
                      </a:r>
                      <a:endParaRPr/>
                    </a:p>
                    <a:p>
                      <a:pPr indent="0" lvl="0" marL="0" rtl="0" algn="l">
                        <a:spcBef>
                          <a:spcPts val="0"/>
                        </a:spcBef>
                        <a:spcAft>
                          <a:spcPts val="0"/>
                        </a:spcAft>
                        <a:buNone/>
                      </a:pPr>
                      <a:r>
                        <a:rPr lang="en"/>
                        <a:t>Enable = 1, data loading, up-counting, and down-counting operations will work.</a:t>
                      </a:r>
                      <a:endParaRPr/>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D0E0E3"/>
                    </a:solidFill>
                  </a:tcPr>
                </a:tc>
              </a:tr>
              <a:tr h="381000">
                <a:tc>
                  <a:txBody>
                    <a:bodyPr/>
                    <a:lstStyle/>
                    <a:p>
                      <a:pPr indent="0" lvl="0" marL="0" rtl="0" algn="l">
                        <a:spcBef>
                          <a:spcPts val="0"/>
                        </a:spcBef>
                        <a:spcAft>
                          <a:spcPts val="0"/>
                        </a:spcAft>
                        <a:buNone/>
                      </a:pPr>
                      <a:r>
                        <a:rPr lang="en"/>
                        <a:t>Load</a:t>
                      </a:r>
                      <a:endParaRPr/>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rPr lang="en"/>
                        <a:t>Input control signal. It is used to load data_in in the circuit.</a:t>
                      </a:r>
                      <a:endParaRPr/>
                    </a:p>
                    <a:p>
                      <a:pPr indent="0" lvl="0" marL="0" rtl="0" algn="l">
                        <a:spcBef>
                          <a:spcPts val="0"/>
                        </a:spcBef>
                        <a:spcAft>
                          <a:spcPts val="0"/>
                        </a:spcAft>
                        <a:buNone/>
                      </a:pPr>
                      <a:r>
                        <a:rPr lang="en"/>
                        <a:t>Load = 0, The circuit keeps its current state.</a:t>
                      </a:r>
                      <a:endParaRPr/>
                    </a:p>
                    <a:p>
                      <a:pPr indent="0" lvl="0" marL="0" rtl="0" algn="l">
                        <a:spcBef>
                          <a:spcPts val="0"/>
                        </a:spcBef>
                        <a:spcAft>
                          <a:spcPts val="0"/>
                        </a:spcAft>
                        <a:buNone/>
                      </a:pPr>
                      <a:r>
                        <a:rPr lang="en"/>
                        <a:t>Load = 1, then load Data_in data into the circuit.</a:t>
                      </a:r>
                      <a:endParaRPr/>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D0E0E3"/>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82" name="Shape 82"/>
        <p:cNvGrpSpPr/>
        <p:nvPr/>
      </p:nvGrpSpPr>
      <p:grpSpPr>
        <a:xfrm>
          <a:off x="0" y="0"/>
          <a:ext cx="0" cy="0"/>
          <a:chOff x="0" y="0"/>
          <a:chExt cx="0" cy="0"/>
        </a:xfrm>
      </p:grpSpPr>
      <p:sp>
        <p:nvSpPr>
          <p:cNvPr id="83" name="Google Shape;83;p16"/>
          <p:cNvSpPr txBox="1"/>
          <p:nvPr>
            <p:ph type="title"/>
          </p:nvPr>
        </p:nvSpPr>
        <p:spPr>
          <a:xfrm>
            <a:off x="754719" y="393750"/>
            <a:ext cx="7038900" cy="685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Signal Lists (cont.)</a:t>
            </a:r>
            <a:endParaRPr b="1"/>
          </a:p>
        </p:txBody>
      </p:sp>
      <p:graphicFrame>
        <p:nvGraphicFramePr>
          <p:cNvPr id="84" name="Google Shape;84;p16"/>
          <p:cNvGraphicFramePr/>
          <p:nvPr/>
        </p:nvGraphicFramePr>
        <p:xfrm>
          <a:off x="754725" y="1209053"/>
          <a:ext cx="3000000" cy="3000000"/>
        </p:xfrm>
        <a:graphic>
          <a:graphicData uri="http://schemas.openxmlformats.org/drawingml/2006/table">
            <a:tbl>
              <a:tblPr>
                <a:noFill/>
                <a:tableStyleId>{5C2AD9DB-7615-4DFD-9972-78A1817C5D34}</a:tableStyleId>
              </a:tblPr>
              <a:tblGrid>
                <a:gridCol w="908475"/>
                <a:gridCol w="1021875"/>
                <a:gridCol w="5932900"/>
              </a:tblGrid>
              <a:tr h="381000">
                <a:tc>
                  <a:txBody>
                    <a:bodyPr/>
                    <a:lstStyle/>
                    <a:p>
                      <a:pPr indent="0" lvl="0" marL="0" rtl="0" algn="l">
                        <a:spcBef>
                          <a:spcPts val="0"/>
                        </a:spcBef>
                        <a:spcAft>
                          <a:spcPts val="0"/>
                        </a:spcAft>
                        <a:buNone/>
                      </a:pPr>
                      <a:r>
                        <a:rPr b="1" lang="en"/>
                        <a:t>Signals</a:t>
                      </a:r>
                      <a:endParaRPr b="1"/>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45818E"/>
                    </a:solidFill>
                  </a:tcPr>
                </a:tc>
                <a:tc>
                  <a:txBody>
                    <a:bodyPr/>
                    <a:lstStyle/>
                    <a:p>
                      <a:pPr indent="0" lvl="0" marL="0" rtl="0" algn="l">
                        <a:spcBef>
                          <a:spcPts val="0"/>
                        </a:spcBef>
                        <a:spcAft>
                          <a:spcPts val="0"/>
                        </a:spcAft>
                        <a:buNone/>
                      </a:pPr>
                      <a:r>
                        <a:rPr b="1" lang="en"/>
                        <a:t>Bit Width</a:t>
                      </a:r>
                      <a:endParaRPr b="1"/>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45818E"/>
                    </a:solidFill>
                  </a:tcPr>
                </a:tc>
                <a:tc>
                  <a:txBody>
                    <a:bodyPr/>
                    <a:lstStyle/>
                    <a:p>
                      <a:pPr indent="0" lvl="0" marL="0" rtl="0" algn="l">
                        <a:spcBef>
                          <a:spcPts val="0"/>
                        </a:spcBef>
                        <a:spcAft>
                          <a:spcPts val="0"/>
                        </a:spcAft>
                        <a:buNone/>
                      </a:pPr>
                      <a:r>
                        <a:rPr b="1" lang="en"/>
                        <a:t>Description</a:t>
                      </a:r>
                      <a:endParaRPr b="1"/>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45818E"/>
                    </a:solidFill>
                  </a:tcPr>
                </a:tc>
              </a:tr>
              <a:tr h="381000">
                <a:tc>
                  <a:txBody>
                    <a:bodyPr/>
                    <a:lstStyle/>
                    <a:p>
                      <a:pPr indent="0" lvl="0" marL="0" rtl="0" algn="l">
                        <a:spcBef>
                          <a:spcPts val="0"/>
                        </a:spcBef>
                        <a:spcAft>
                          <a:spcPts val="0"/>
                        </a:spcAft>
                        <a:buNone/>
                      </a:pPr>
                      <a:r>
                        <a:rPr lang="en"/>
                        <a:t>Data_in</a:t>
                      </a:r>
                      <a:endParaRPr/>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rPr lang="en"/>
                        <a:t>3</a:t>
                      </a:r>
                      <a:endParaRPr/>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rPr lang="en"/>
                        <a:t>A 3-bit input data signal.</a:t>
                      </a:r>
                      <a:endParaRPr/>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D0E0E3"/>
                    </a:solidFill>
                  </a:tcPr>
                </a:tc>
              </a:tr>
              <a:tr h="381000">
                <a:tc>
                  <a:txBody>
                    <a:bodyPr/>
                    <a:lstStyle/>
                    <a:p>
                      <a:pPr indent="0" lvl="0" marL="0" rtl="0" algn="l">
                        <a:spcBef>
                          <a:spcPts val="0"/>
                        </a:spcBef>
                        <a:spcAft>
                          <a:spcPts val="0"/>
                        </a:spcAft>
                        <a:buNone/>
                      </a:pPr>
                      <a:r>
                        <a:rPr lang="en"/>
                        <a:t>Count</a:t>
                      </a:r>
                      <a:endParaRPr/>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rPr lang="en"/>
                        <a:t>Input control signal. Controls the up-counting/down-counting.</a:t>
                      </a:r>
                      <a:endParaRPr/>
                    </a:p>
                    <a:p>
                      <a:pPr indent="0" lvl="0" marL="0" rtl="0" algn="l">
                        <a:spcBef>
                          <a:spcPts val="0"/>
                        </a:spcBef>
                        <a:spcAft>
                          <a:spcPts val="0"/>
                        </a:spcAft>
                        <a:buNone/>
                      </a:pPr>
                      <a:r>
                        <a:rPr lang="en"/>
                        <a:t>Count = 0, down-counts the current data, -1</a:t>
                      </a:r>
                      <a:endParaRPr/>
                    </a:p>
                    <a:p>
                      <a:pPr indent="0" lvl="0" marL="0" rtl="0" algn="l">
                        <a:spcBef>
                          <a:spcPts val="0"/>
                        </a:spcBef>
                        <a:spcAft>
                          <a:spcPts val="0"/>
                        </a:spcAft>
                        <a:buNone/>
                      </a:pPr>
                      <a:r>
                        <a:rPr lang="en"/>
                        <a:t>Count = 1, up-counts the current data, +1</a:t>
                      </a:r>
                      <a:endParaRPr/>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D0E0E3"/>
                    </a:solidFill>
                  </a:tcPr>
                </a:tc>
              </a:tr>
              <a:tr h="381000">
                <a:tc>
                  <a:txBody>
                    <a:bodyPr/>
                    <a:lstStyle/>
                    <a:p>
                      <a:pPr indent="0" lvl="0" marL="0" rtl="0" algn="l">
                        <a:spcBef>
                          <a:spcPts val="0"/>
                        </a:spcBef>
                        <a:spcAft>
                          <a:spcPts val="0"/>
                        </a:spcAft>
                        <a:buNone/>
                      </a:pPr>
                      <a:r>
                        <a:rPr lang="en"/>
                        <a:t>A_count</a:t>
                      </a:r>
                      <a:endParaRPr/>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rPr lang="en"/>
                        <a:t>4</a:t>
                      </a:r>
                      <a:endParaRPr/>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rPr lang="en"/>
                        <a:t>A 4-bit output data signal.</a:t>
                      </a:r>
                      <a:endParaRPr/>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D0E0E3"/>
                    </a:solidFill>
                  </a:tcPr>
                </a:tc>
              </a:tr>
              <a:tr h="381000">
                <a:tc>
                  <a:txBody>
                    <a:bodyPr/>
                    <a:lstStyle/>
                    <a:p>
                      <a:pPr indent="0" lvl="0" marL="0" rtl="0" algn="l">
                        <a:spcBef>
                          <a:spcPts val="0"/>
                        </a:spcBef>
                        <a:spcAft>
                          <a:spcPts val="0"/>
                        </a:spcAft>
                        <a:buNone/>
                      </a:pPr>
                      <a:r>
                        <a:rPr lang="en"/>
                        <a:t>C_out</a:t>
                      </a:r>
                      <a:endParaRPr/>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rPr lang="en"/>
                        <a:t>An output data signal. C_out is an output carry signal that indicates whether the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counter (A_count) has exceeded its maximum value.</a:t>
                      </a:r>
                      <a:endParaRPr/>
                    </a:p>
                    <a:p>
                      <a:pPr indent="0" lvl="0" marL="0" rtl="0" algn="l">
                        <a:spcBef>
                          <a:spcPts val="0"/>
                        </a:spcBef>
                        <a:spcAft>
                          <a:spcPts val="0"/>
                        </a:spcAft>
                        <a:buNone/>
                      </a:pPr>
                      <a:r>
                        <a:rPr lang="en"/>
                        <a:t>C_out = 1: A_count has surpassed its maximum value.</a:t>
                      </a:r>
                      <a:endParaRPr/>
                    </a:p>
                    <a:p>
                      <a:pPr indent="0" lvl="0" marL="0" rtl="0" algn="l">
                        <a:spcBef>
                          <a:spcPts val="0"/>
                        </a:spcBef>
                        <a:spcAft>
                          <a:spcPts val="0"/>
                        </a:spcAft>
                        <a:buNone/>
                      </a:pPr>
                      <a:r>
                        <a:rPr lang="en"/>
                        <a:t>C_out = 0: A_count is yet to reach its maximum value.</a:t>
                      </a:r>
                      <a:endParaRPr/>
                    </a:p>
                  </a:txBody>
                  <a:tcPr marT="91425" marB="91425" marR="91425" marL="91425">
                    <a:lnL cap="flat" cmpd="sng" w="9525">
                      <a:solidFill>
                        <a:srgbClr val="212529"/>
                      </a:solidFill>
                      <a:prstDash val="solid"/>
                      <a:round/>
                      <a:headEnd len="sm" w="sm" type="none"/>
                      <a:tailEnd len="sm" w="sm" type="none"/>
                    </a:lnL>
                    <a:lnR cap="flat" cmpd="sng" w="9525">
                      <a:solidFill>
                        <a:srgbClr val="212529"/>
                      </a:solidFill>
                      <a:prstDash val="solid"/>
                      <a:round/>
                      <a:headEnd len="sm" w="sm" type="none"/>
                      <a:tailEnd len="sm" w="sm" type="none"/>
                    </a:lnR>
                    <a:lnT cap="flat" cmpd="sng" w="9525">
                      <a:solidFill>
                        <a:srgbClr val="212529"/>
                      </a:solidFill>
                      <a:prstDash val="solid"/>
                      <a:round/>
                      <a:headEnd len="sm" w="sm" type="none"/>
                      <a:tailEnd len="sm" w="sm" type="none"/>
                    </a:lnT>
                    <a:lnB cap="flat" cmpd="sng" w="9525">
                      <a:solidFill>
                        <a:srgbClr val="212529"/>
                      </a:solidFill>
                      <a:prstDash val="solid"/>
                      <a:round/>
                      <a:headEnd len="sm" w="sm" type="none"/>
                      <a:tailEnd len="sm" w="sm" type="none"/>
                    </a:lnB>
                    <a:solidFill>
                      <a:srgbClr val="D0E0E3"/>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677178" y="393750"/>
            <a:ext cx="7038900" cy="59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 Plan</a:t>
            </a:r>
            <a:endParaRPr/>
          </a:p>
        </p:txBody>
      </p:sp>
      <p:graphicFrame>
        <p:nvGraphicFramePr>
          <p:cNvPr id="90" name="Google Shape;90;p17"/>
          <p:cNvGraphicFramePr/>
          <p:nvPr/>
        </p:nvGraphicFramePr>
        <p:xfrm>
          <a:off x="626402" y="1159750"/>
          <a:ext cx="3000000" cy="3000000"/>
        </p:xfrm>
        <a:graphic>
          <a:graphicData uri="http://schemas.openxmlformats.org/drawingml/2006/table">
            <a:tbl>
              <a:tblPr>
                <a:noFill/>
                <a:tableStyleId>{5C2AD9DB-7615-4DFD-9972-78A1817C5D34}</a:tableStyleId>
              </a:tblPr>
              <a:tblGrid>
                <a:gridCol w="382850"/>
                <a:gridCol w="1588075"/>
                <a:gridCol w="6282125"/>
              </a:tblGrid>
              <a:tr h="395175">
                <a:tc>
                  <a:txBody>
                    <a:bodyPr/>
                    <a:lstStyle/>
                    <a:p>
                      <a:pPr indent="0" lvl="0" marL="0" rtl="0" algn="ctr">
                        <a:spcBef>
                          <a:spcPts val="0"/>
                        </a:spcBef>
                        <a:spcAft>
                          <a:spcPts val="0"/>
                        </a:spcAft>
                        <a:buNone/>
                      </a:pPr>
                      <a:r>
                        <a:rPr b="1" lang="en">
                          <a:latin typeface="Lato"/>
                          <a:ea typeface="Lato"/>
                          <a:cs typeface="Lato"/>
                          <a:sym typeface="Lato"/>
                        </a:rPr>
                        <a:t>SI</a:t>
                      </a:r>
                      <a:endParaRPr>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b="1" lang="en">
                          <a:latin typeface="Lato"/>
                          <a:ea typeface="Lato"/>
                          <a:cs typeface="Lato"/>
                          <a:sym typeface="Lato"/>
                        </a:rPr>
                        <a:t>Test Name</a:t>
                      </a:r>
                      <a:endParaRPr>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b="1" lang="en">
                          <a:latin typeface="Lato"/>
                          <a:ea typeface="Lato"/>
                          <a:cs typeface="Lato"/>
                          <a:sym typeface="Lato"/>
                        </a:rPr>
                        <a:t>Purpose</a:t>
                      </a:r>
                      <a:endParaRPr>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AA84F"/>
                    </a:solidFill>
                  </a:tcPr>
                </a:tc>
              </a:tr>
              <a:tr h="395175">
                <a:tc>
                  <a:txBody>
                    <a:bodyPr/>
                    <a:lstStyle/>
                    <a:p>
                      <a:pPr indent="0" lvl="0" marL="0" rtl="0" algn="l">
                        <a:spcBef>
                          <a:spcPts val="0"/>
                        </a:spcBef>
                        <a:spcAft>
                          <a:spcPts val="0"/>
                        </a:spcAft>
                        <a:buNone/>
                      </a:pPr>
                      <a:r>
                        <a:rPr lang="en" sz="1200">
                          <a:latin typeface="Lato"/>
                          <a:ea typeface="Lato"/>
                          <a:cs typeface="Lato"/>
                          <a:sym typeface="Lato"/>
                        </a:rPr>
                        <a:t>1</a:t>
                      </a:r>
                      <a:endParaRPr sz="12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sz="1200">
                          <a:latin typeface="Lato"/>
                          <a:ea typeface="Lato"/>
                          <a:cs typeface="Lato"/>
                          <a:sym typeface="Lato"/>
                        </a:rPr>
                        <a:t>reset_test</a:t>
                      </a:r>
                      <a:endParaRPr sz="12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sz="1200">
                          <a:latin typeface="Lato"/>
                          <a:ea typeface="Lato"/>
                          <a:cs typeface="Lato"/>
                          <a:sym typeface="Lato"/>
                        </a:rPr>
                        <a:t>To check whether the counter is having a reset value in each clock pulse when reset = 0,</a:t>
                      </a:r>
                      <a:endParaRPr sz="12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r>
              <a:tr h="395175">
                <a:tc>
                  <a:txBody>
                    <a:bodyPr/>
                    <a:lstStyle/>
                    <a:p>
                      <a:pPr indent="0" lvl="0" marL="0" rtl="0" algn="l">
                        <a:spcBef>
                          <a:spcPts val="0"/>
                        </a:spcBef>
                        <a:spcAft>
                          <a:spcPts val="0"/>
                        </a:spcAft>
                        <a:buNone/>
                      </a:pPr>
                      <a:r>
                        <a:rPr lang="en" sz="1200">
                          <a:latin typeface="Lato"/>
                          <a:ea typeface="Lato"/>
                          <a:cs typeface="Lato"/>
                          <a:sym typeface="Lato"/>
                        </a:rPr>
                        <a:t>2</a:t>
                      </a:r>
                      <a:endParaRPr sz="12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sz="1200">
                          <a:latin typeface="Lato"/>
                          <a:ea typeface="Lato"/>
                          <a:cs typeface="Lato"/>
                          <a:sym typeface="Lato"/>
                        </a:rPr>
                        <a:t>up_counting_test</a:t>
                      </a:r>
                      <a:endParaRPr sz="12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sz="1200">
                          <a:latin typeface="Lato"/>
                          <a:ea typeface="Lato"/>
                          <a:cs typeface="Lato"/>
                          <a:sym typeface="Lato"/>
                        </a:rPr>
                        <a:t>To check whether the counter is counting upwards when count = 1</a:t>
                      </a:r>
                      <a:endParaRPr sz="12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r>
              <a:tr h="395175">
                <a:tc>
                  <a:txBody>
                    <a:bodyPr/>
                    <a:lstStyle/>
                    <a:p>
                      <a:pPr indent="0" lvl="0" marL="0" rtl="0" algn="l">
                        <a:spcBef>
                          <a:spcPts val="0"/>
                        </a:spcBef>
                        <a:spcAft>
                          <a:spcPts val="0"/>
                        </a:spcAft>
                        <a:buNone/>
                      </a:pPr>
                      <a:r>
                        <a:rPr lang="en" sz="1200">
                          <a:latin typeface="Lato"/>
                          <a:ea typeface="Lato"/>
                          <a:cs typeface="Lato"/>
                          <a:sym typeface="Lato"/>
                        </a:rPr>
                        <a:t>3</a:t>
                      </a:r>
                      <a:endParaRPr sz="12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sz="1200">
                          <a:latin typeface="Lato"/>
                          <a:ea typeface="Lato"/>
                          <a:cs typeface="Lato"/>
                          <a:sym typeface="Lato"/>
                        </a:rPr>
                        <a:t>down_counting_test</a:t>
                      </a:r>
                      <a:endParaRPr sz="12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sz="1200">
                          <a:latin typeface="Lato"/>
                          <a:ea typeface="Lato"/>
                          <a:cs typeface="Lato"/>
                          <a:sym typeface="Lato"/>
                        </a:rPr>
                        <a:t>To check whether the counter is counting downwards when count=0</a:t>
                      </a:r>
                      <a:endParaRPr sz="12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r>
              <a:tr h="395175">
                <a:tc>
                  <a:txBody>
                    <a:bodyPr/>
                    <a:lstStyle/>
                    <a:p>
                      <a:pPr indent="0" lvl="0" marL="0" rtl="0" algn="l">
                        <a:spcBef>
                          <a:spcPts val="0"/>
                        </a:spcBef>
                        <a:spcAft>
                          <a:spcPts val="0"/>
                        </a:spcAft>
                        <a:buNone/>
                      </a:pPr>
                      <a:r>
                        <a:rPr lang="en" sz="1200">
                          <a:latin typeface="Lato"/>
                          <a:ea typeface="Lato"/>
                          <a:cs typeface="Lato"/>
                          <a:sym typeface="Lato"/>
                        </a:rPr>
                        <a:t>4</a:t>
                      </a:r>
                      <a:endParaRPr sz="12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sz="1200">
                          <a:latin typeface="Lato"/>
                          <a:ea typeface="Lato"/>
                          <a:cs typeface="Lato"/>
                          <a:sym typeface="Lato"/>
                        </a:rPr>
                        <a:t>load_value_test</a:t>
                      </a:r>
                      <a:endParaRPr sz="12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sz="1200">
                          <a:latin typeface="Lato"/>
                          <a:ea typeface="Lato"/>
                          <a:cs typeface="Lato"/>
                          <a:sym typeface="Lato"/>
                        </a:rPr>
                        <a:t>To check whether A_count is having a present/static value when load=0 and also taking input from data_in when load=1</a:t>
                      </a:r>
                      <a:endParaRPr sz="12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r>
              <a:tr h="395175">
                <a:tc>
                  <a:txBody>
                    <a:bodyPr/>
                    <a:lstStyle/>
                    <a:p>
                      <a:pPr indent="0" lvl="0" marL="0" rtl="0" algn="l">
                        <a:spcBef>
                          <a:spcPts val="0"/>
                        </a:spcBef>
                        <a:spcAft>
                          <a:spcPts val="0"/>
                        </a:spcAft>
                        <a:buNone/>
                      </a:pPr>
                      <a:r>
                        <a:rPr lang="en" sz="1200">
                          <a:latin typeface="Lato"/>
                          <a:ea typeface="Lato"/>
                          <a:cs typeface="Lato"/>
                          <a:sym typeface="Lato"/>
                        </a:rPr>
                        <a:t>5</a:t>
                      </a:r>
                      <a:endParaRPr sz="12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sz="1200">
                          <a:latin typeface="Lato"/>
                          <a:ea typeface="Lato"/>
                          <a:cs typeface="Lato"/>
                          <a:sym typeface="Lato"/>
                        </a:rPr>
                        <a:t>enable_pin_test</a:t>
                      </a:r>
                      <a:endParaRPr sz="12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sz="1200">
                          <a:latin typeface="Lato"/>
                          <a:ea typeface="Lato"/>
                          <a:cs typeface="Lato"/>
                          <a:sym typeface="Lato"/>
                        </a:rPr>
                        <a:t>To check whether the counter is having a current value when enable = 0,</a:t>
                      </a:r>
                      <a:endParaRPr sz="12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r>
              <a:tr h="395175">
                <a:tc>
                  <a:txBody>
                    <a:bodyPr/>
                    <a:lstStyle/>
                    <a:p>
                      <a:pPr indent="0" lvl="0" marL="0" rtl="0" algn="l">
                        <a:spcBef>
                          <a:spcPts val="0"/>
                        </a:spcBef>
                        <a:spcAft>
                          <a:spcPts val="0"/>
                        </a:spcAft>
                        <a:buNone/>
                      </a:pPr>
                      <a:r>
                        <a:rPr lang="en" sz="1200">
                          <a:latin typeface="Lato"/>
                          <a:ea typeface="Lato"/>
                          <a:cs typeface="Lato"/>
                          <a:sym typeface="Lato"/>
                        </a:rPr>
                        <a:t>6</a:t>
                      </a:r>
                      <a:endParaRPr sz="12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sz="1200">
                          <a:latin typeface="Lato"/>
                          <a:ea typeface="Lato"/>
                          <a:cs typeface="Lato"/>
                          <a:sym typeface="Lato"/>
                        </a:rPr>
                        <a:t>carry_out_test</a:t>
                      </a:r>
                      <a:endParaRPr sz="12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sz="1200">
                          <a:latin typeface="Lato"/>
                          <a:ea typeface="Lato"/>
                          <a:cs typeface="Lato"/>
                          <a:sym typeface="Lato"/>
                        </a:rPr>
                        <a:t>To check whether c_out has output carry when A_count gets incremented after A_count == 1111</a:t>
                      </a:r>
                      <a:endParaRPr sz="12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r>
              <a:tr h="395175">
                <a:tc>
                  <a:txBody>
                    <a:bodyPr/>
                    <a:lstStyle/>
                    <a:p>
                      <a:pPr indent="0" lvl="0" marL="0" rtl="0" algn="l">
                        <a:spcBef>
                          <a:spcPts val="0"/>
                        </a:spcBef>
                        <a:spcAft>
                          <a:spcPts val="0"/>
                        </a:spcAft>
                        <a:buNone/>
                      </a:pPr>
                      <a:r>
                        <a:rPr lang="en" sz="1200">
                          <a:latin typeface="Lato"/>
                          <a:ea typeface="Lato"/>
                          <a:cs typeface="Lato"/>
                          <a:sym typeface="Lato"/>
                        </a:rPr>
                        <a:t>7</a:t>
                      </a:r>
                      <a:endParaRPr sz="12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sz="1200">
                          <a:latin typeface="Lato"/>
                          <a:ea typeface="Lato"/>
                          <a:cs typeface="Lato"/>
                          <a:sym typeface="Lato"/>
                        </a:rPr>
                        <a:t>random_test</a:t>
                      </a:r>
                      <a:endParaRPr sz="12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sz="1200">
                          <a:latin typeface="Lato"/>
                          <a:ea typeface="Lato"/>
                          <a:cs typeface="Lato"/>
                          <a:sym typeface="Lato"/>
                        </a:rPr>
                        <a:t>To check whether the counter passes previous test cases when random input signals are driven and the CLK signal varies at the given frequency range (50~100 MHz)</a:t>
                      </a:r>
                      <a:endParaRPr sz="12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Testbench Architecture (Block Diagram)</a:t>
            </a:r>
            <a:endParaRPr/>
          </a:p>
        </p:txBody>
      </p:sp>
      <p:sp>
        <p:nvSpPr>
          <p:cNvPr id="96" name="Google Shape;96;p18"/>
          <p:cNvSpPr txBox="1"/>
          <p:nvPr/>
        </p:nvSpPr>
        <p:spPr>
          <a:xfrm>
            <a:off x="2081784" y="3520179"/>
            <a:ext cx="906600" cy="1175700"/>
          </a:xfrm>
          <a:prstGeom prst="rect">
            <a:avLst/>
          </a:prstGeom>
          <a:noFill/>
          <a:ln>
            <a:noFill/>
          </a:ln>
        </p:spPr>
        <p:txBody>
          <a:bodyPr anchorCtr="0" anchor="t" bIns="31300" lIns="62625" spcFirstLastPara="1" rIns="62625" wrap="square" tIns="31300">
            <a:normAutofit/>
          </a:bodyPr>
          <a:lstStyle/>
          <a:p>
            <a:pPr indent="0" lvl="0" marL="0" rtl="0" algn="l">
              <a:lnSpc>
                <a:spcPct val="150000"/>
              </a:lnSpc>
              <a:spcBef>
                <a:spcPts val="731"/>
              </a:spcBef>
              <a:spcAft>
                <a:spcPts val="822"/>
              </a:spcAft>
              <a:buNone/>
            </a:pPr>
            <a:br>
              <a:rPr lang="en" sz="821">
                <a:solidFill>
                  <a:srgbClr val="3F3F3F"/>
                </a:solidFill>
                <a:latin typeface="Verdana"/>
                <a:ea typeface="Verdana"/>
                <a:cs typeface="Verdana"/>
                <a:sym typeface="Verdana"/>
              </a:rPr>
            </a:br>
            <a:endParaRPr sz="821">
              <a:solidFill>
                <a:srgbClr val="3F3F3F"/>
              </a:solidFill>
              <a:latin typeface="Verdana"/>
              <a:ea typeface="Verdana"/>
              <a:cs typeface="Verdana"/>
              <a:sym typeface="Verdana"/>
            </a:endParaRPr>
          </a:p>
        </p:txBody>
      </p:sp>
      <p:sp>
        <p:nvSpPr>
          <p:cNvPr id="97" name="Google Shape;97;p18"/>
          <p:cNvSpPr/>
          <p:nvPr/>
        </p:nvSpPr>
        <p:spPr>
          <a:xfrm>
            <a:off x="4794253" y="3593959"/>
            <a:ext cx="590700" cy="154800"/>
          </a:xfrm>
          <a:prstGeom prst="rect">
            <a:avLst/>
          </a:prstGeom>
          <a:solidFill>
            <a:srgbClr val="EAD1DC"/>
          </a:solidFill>
          <a:ln cap="flat" cmpd="sng" w="8700">
            <a:solidFill>
              <a:srgbClr val="5E696C"/>
            </a:solidFill>
            <a:prstDash val="solid"/>
            <a:round/>
            <a:headEnd len="sm" w="sm" type="none"/>
            <a:tailEnd len="sm" w="sm" type="none"/>
          </a:ln>
        </p:spPr>
        <p:txBody>
          <a:bodyPr anchorCtr="0" anchor="ctr" bIns="83475" lIns="83475" spcFirstLastPara="1" rIns="83475" wrap="square" tIns="83475">
            <a:noAutofit/>
          </a:bodyPr>
          <a:lstStyle/>
          <a:p>
            <a:pPr indent="0" lvl="0" marL="0" rtl="0" algn="ctr">
              <a:spcBef>
                <a:spcPts val="0"/>
              </a:spcBef>
              <a:spcAft>
                <a:spcPts val="0"/>
              </a:spcAft>
              <a:buNone/>
            </a:pPr>
            <a:r>
              <a:rPr lang="en" sz="1278">
                <a:latin typeface="Lato"/>
                <a:ea typeface="Lato"/>
                <a:cs typeface="Lato"/>
                <a:sym typeface="Lato"/>
              </a:rPr>
              <a:t>Trans</a:t>
            </a:r>
            <a:endParaRPr sz="1278">
              <a:latin typeface="Lato"/>
              <a:ea typeface="Lato"/>
              <a:cs typeface="Lato"/>
              <a:sym typeface="Lato"/>
            </a:endParaRPr>
          </a:p>
        </p:txBody>
      </p:sp>
      <p:grpSp>
        <p:nvGrpSpPr>
          <p:cNvPr id="98" name="Google Shape;98;p18"/>
          <p:cNvGrpSpPr/>
          <p:nvPr/>
        </p:nvGrpSpPr>
        <p:grpSpPr>
          <a:xfrm>
            <a:off x="1310421" y="1477670"/>
            <a:ext cx="7137480" cy="3233550"/>
            <a:chOff x="1310421" y="1477670"/>
            <a:chExt cx="7137480" cy="3233550"/>
          </a:xfrm>
        </p:grpSpPr>
        <p:grpSp>
          <p:nvGrpSpPr>
            <p:cNvPr id="99" name="Google Shape;99;p18"/>
            <p:cNvGrpSpPr/>
            <p:nvPr/>
          </p:nvGrpSpPr>
          <p:grpSpPr>
            <a:xfrm>
              <a:off x="1310421" y="1477670"/>
              <a:ext cx="7137480" cy="3233550"/>
              <a:chOff x="547575" y="1066725"/>
              <a:chExt cx="7815900" cy="3540900"/>
            </a:xfrm>
          </p:grpSpPr>
          <p:sp>
            <p:nvSpPr>
              <p:cNvPr id="100" name="Google Shape;100;p18"/>
              <p:cNvSpPr/>
              <p:nvPr/>
            </p:nvSpPr>
            <p:spPr>
              <a:xfrm>
                <a:off x="547575" y="1066725"/>
                <a:ext cx="7815900" cy="3540900"/>
              </a:xfrm>
              <a:prstGeom prst="rect">
                <a:avLst/>
              </a:prstGeom>
              <a:solidFill>
                <a:srgbClr val="BFC7CA"/>
              </a:solidFill>
              <a:ln cap="flat" cmpd="sng" w="8700">
                <a:solidFill>
                  <a:srgbClr val="5E696C"/>
                </a:solidFill>
                <a:prstDash val="solid"/>
                <a:round/>
                <a:headEnd len="sm" w="sm" type="none"/>
                <a:tailEnd len="sm" w="sm" type="none"/>
              </a:ln>
            </p:spPr>
            <p:txBody>
              <a:bodyPr anchorCtr="0" anchor="ctr" bIns="83475" lIns="83475" spcFirstLastPara="1" rIns="83475" wrap="square" tIns="83475">
                <a:noAutofit/>
              </a:bodyPr>
              <a:lstStyle/>
              <a:p>
                <a:pPr indent="0" lvl="0" marL="0" rtl="0" algn="ctr">
                  <a:spcBef>
                    <a:spcPts val="0"/>
                  </a:spcBef>
                  <a:spcAft>
                    <a:spcPts val="0"/>
                  </a:spcAft>
                  <a:buNone/>
                </a:pPr>
                <a:r>
                  <a:t/>
                </a:r>
                <a:endParaRPr sz="1278">
                  <a:latin typeface="Lato"/>
                  <a:ea typeface="Lato"/>
                  <a:cs typeface="Lato"/>
                  <a:sym typeface="Lato"/>
                </a:endParaRPr>
              </a:p>
            </p:txBody>
          </p:sp>
          <p:sp>
            <p:nvSpPr>
              <p:cNvPr id="101" name="Google Shape;101;p18"/>
              <p:cNvSpPr/>
              <p:nvPr/>
            </p:nvSpPr>
            <p:spPr>
              <a:xfrm>
                <a:off x="701300" y="1480150"/>
                <a:ext cx="4730100" cy="2972400"/>
              </a:xfrm>
              <a:prstGeom prst="rect">
                <a:avLst/>
              </a:prstGeom>
              <a:solidFill>
                <a:srgbClr val="EAD1DC"/>
              </a:solidFill>
              <a:ln cap="flat" cmpd="sng" w="8700">
                <a:solidFill>
                  <a:srgbClr val="5E696C"/>
                </a:solidFill>
                <a:prstDash val="solid"/>
                <a:round/>
                <a:headEnd len="sm" w="sm" type="none"/>
                <a:tailEnd len="sm" w="sm" type="none"/>
              </a:ln>
            </p:spPr>
            <p:txBody>
              <a:bodyPr anchorCtr="0" anchor="ctr" bIns="83475" lIns="83475" spcFirstLastPara="1" rIns="83475" wrap="square" tIns="83475">
                <a:noAutofit/>
              </a:bodyPr>
              <a:lstStyle/>
              <a:p>
                <a:pPr indent="0" lvl="0" marL="0" rtl="0" algn="ctr">
                  <a:spcBef>
                    <a:spcPts val="0"/>
                  </a:spcBef>
                  <a:spcAft>
                    <a:spcPts val="0"/>
                  </a:spcAft>
                  <a:buNone/>
                </a:pPr>
                <a:r>
                  <a:t/>
                </a:r>
                <a:endParaRPr sz="1278">
                  <a:latin typeface="Lato"/>
                  <a:ea typeface="Lato"/>
                  <a:cs typeface="Lato"/>
                  <a:sym typeface="Lato"/>
                </a:endParaRPr>
              </a:p>
            </p:txBody>
          </p:sp>
          <p:sp>
            <p:nvSpPr>
              <p:cNvPr id="102" name="Google Shape;102;p18"/>
              <p:cNvSpPr/>
              <p:nvPr/>
            </p:nvSpPr>
            <p:spPr>
              <a:xfrm>
                <a:off x="844800" y="1842000"/>
                <a:ext cx="4444200" cy="2429700"/>
              </a:xfrm>
              <a:prstGeom prst="rect">
                <a:avLst/>
              </a:prstGeom>
              <a:solidFill>
                <a:srgbClr val="FFF2CC"/>
              </a:solidFill>
              <a:ln cap="flat" cmpd="sng" w="8700">
                <a:solidFill>
                  <a:srgbClr val="5E696C"/>
                </a:solidFill>
                <a:prstDash val="solid"/>
                <a:round/>
                <a:headEnd len="sm" w="sm" type="none"/>
                <a:tailEnd len="sm" w="sm" type="none"/>
              </a:ln>
            </p:spPr>
            <p:txBody>
              <a:bodyPr anchorCtr="0" anchor="ctr" bIns="83475" lIns="83475" spcFirstLastPara="1" rIns="83475" wrap="square" tIns="83475">
                <a:noAutofit/>
              </a:bodyPr>
              <a:lstStyle/>
              <a:p>
                <a:pPr indent="0" lvl="0" marL="0" rtl="0" algn="ctr">
                  <a:spcBef>
                    <a:spcPts val="0"/>
                  </a:spcBef>
                  <a:spcAft>
                    <a:spcPts val="0"/>
                  </a:spcAft>
                  <a:buNone/>
                </a:pPr>
                <a:r>
                  <a:t/>
                </a:r>
                <a:endParaRPr sz="1278">
                  <a:latin typeface="Lato"/>
                  <a:ea typeface="Lato"/>
                  <a:cs typeface="Lato"/>
                  <a:sym typeface="Lato"/>
                </a:endParaRPr>
              </a:p>
            </p:txBody>
          </p:sp>
          <p:sp>
            <p:nvSpPr>
              <p:cNvPr id="103" name="Google Shape;103;p18"/>
              <p:cNvSpPr/>
              <p:nvPr/>
            </p:nvSpPr>
            <p:spPr>
              <a:xfrm>
                <a:off x="972700" y="2152175"/>
                <a:ext cx="4174500" cy="1150200"/>
              </a:xfrm>
              <a:prstGeom prst="rect">
                <a:avLst/>
              </a:prstGeom>
              <a:solidFill>
                <a:srgbClr val="BFC7CA"/>
              </a:solidFill>
              <a:ln cap="flat" cmpd="sng" w="8700">
                <a:solidFill>
                  <a:srgbClr val="5E696C"/>
                </a:solidFill>
                <a:prstDash val="solid"/>
                <a:round/>
                <a:headEnd len="sm" w="sm" type="none"/>
                <a:tailEnd len="sm" w="sm" type="none"/>
              </a:ln>
            </p:spPr>
            <p:txBody>
              <a:bodyPr anchorCtr="0" anchor="ctr" bIns="83475" lIns="83475" spcFirstLastPara="1" rIns="83475" wrap="square" tIns="83475">
                <a:noAutofit/>
              </a:bodyPr>
              <a:lstStyle/>
              <a:p>
                <a:pPr indent="0" lvl="0" marL="0" rtl="0" algn="ctr">
                  <a:spcBef>
                    <a:spcPts val="0"/>
                  </a:spcBef>
                  <a:spcAft>
                    <a:spcPts val="0"/>
                  </a:spcAft>
                  <a:buNone/>
                </a:pPr>
                <a:r>
                  <a:t/>
                </a:r>
                <a:endParaRPr sz="1278">
                  <a:latin typeface="Lato"/>
                  <a:ea typeface="Lato"/>
                  <a:cs typeface="Lato"/>
                  <a:sym typeface="Lato"/>
                </a:endParaRPr>
              </a:p>
            </p:txBody>
          </p:sp>
          <p:sp>
            <p:nvSpPr>
              <p:cNvPr id="104" name="Google Shape;104;p18"/>
              <p:cNvSpPr/>
              <p:nvPr/>
            </p:nvSpPr>
            <p:spPr>
              <a:xfrm>
                <a:off x="972550" y="3754675"/>
                <a:ext cx="4174500" cy="369300"/>
              </a:xfrm>
              <a:prstGeom prst="rect">
                <a:avLst/>
              </a:prstGeom>
              <a:solidFill>
                <a:srgbClr val="BFC7CA"/>
              </a:solidFill>
              <a:ln cap="flat" cmpd="sng" w="8700">
                <a:solidFill>
                  <a:srgbClr val="5E696C"/>
                </a:solidFill>
                <a:prstDash val="solid"/>
                <a:round/>
                <a:headEnd len="sm" w="sm" type="none"/>
                <a:tailEnd len="sm" w="sm" type="none"/>
              </a:ln>
            </p:spPr>
            <p:txBody>
              <a:bodyPr anchorCtr="0" anchor="ctr" bIns="83475" lIns="83475" spcFirstLastPara="1" rIns="83475" wrap="square" tIns="83475">
                <a:noAutofit/>
              </a:bodyPr>
              <a:lstStyle/>
              <a:p>
                <a:pPr indent="0" lvl="0" marL="0" rtl="0" algn="ctr">
                  <a:spcBef>
                    <a:spcPts val="0"/>
                  </a:spcBef>
                  <a:spcAft>
                    <a:spcPts val="0"/>
                  </a:spcAft>
                  <a:buNone/>
                </a:pPr>
                <a:r>
                  <a:t/>
                </a:r>
                <a:endParaRPr sz="1278">
                  <a:latin typeface="Lato"/>
                  <a:ea typeface="Lato"/>
                  <a:cs typeface="Lato"/>
                  <a:sym typeface="Lato"/>
                </a:endParaRPr>
              </a:p>
            </p:txBody>
          </p:sp>
          <p:sp>
            <p:nvSpPr>
              <p:cNvPr id="105" name="Google Shape;105;p18"/>
              <p:cNvSpPr/>
              <p:nvPr/>
            </p:nvSpPr>
            <p:spPr>
              <a:xfrm>
                <a:off x="1131800" y="2436475"/>
                <a:ext cx="1408800" cy="297300"/>
              </a:xfrm>
              <a:prstGeom prst="rect">
                <a:avLst/>
              </a:prstGeom>
              <a:solidFill>
                <a:srgbClr val="D9EAD3"/>
              </a:solidFill>
              <a:ln cap="flat" cmpd="sng" w="8700">
                <a:solidFill>
                  <a:srgbClr val="5E696C"/>
                </a:solidFill>
                <a:prstDash val="solid"/>
                <a:round/>
                <a:headEnd len="sm" w="sm" type="none"/>
                <a:tailEnd len="sm" w="sm" type="none"/>
              </a:ln>
            </p:spPr>
            <p:txBody>
              <a:bodyPr anchorCtr="0" anchor="ctr" bIns="83475" lIns="83475" spcFirstLastPara="1" rIns="83475" wrap="square" tIns="83475">
                <a:noAutofit/>
              </a:bodyPr>
              <a:lstStyle/>
              <a:p>
                <a:pPr indent="0" lvl="0" marL="0" rtl="0" algn="ctr">
                  <a:spcBef>
                    <a:spcPts val="0"/>
                  </a:spcBef>
                  <a:spcAft>
                    <a:spcPts val="0"/>
                  </a:spcAft>
                  <a:buNone/>
                </a:pPr>
                <a:r>
                  <a:t/>
                </a:r>
                <a:endParaRPr sz="1278">
                  <a:latin typeface="Lato"/>
                  <a:ea typeface="Lato"/>
                  <a:cs typeface="Lato"/>
                  <a:sym typeface="Lato"/>
                </a:endParaRPr>
              </a:p>
            </p:txBody>
          </p:sp>
          <p:sp>
            <p:nvSpPr>
              <p:cNvPr id="106" name="Google Shape;106;p18"/>
              <p:cNvSpPr/>
              <p:nvPr/>
            </p:nvSpPr>
            <p:spPr>
              <a:xfrm>
                <a:off x="1131800" y="2908100"/>
                <a:ext cx="1408800" cy="297300"/>
              </a:xfrm>
              <a:prstGeom prst="rect">
                <a:avLst/>
              </a:prstGeom>
              <a:solidFill>
                <a:srgbClr val="D9EAD3"/>
              </a:solidFill>
              <a:ln cap="flat" cmpd="sng" w="8700">
                <a:solidFill>
                  <a:srgbClr val="5E696C"/>
                </a:solidFill>
                <a:prstDash val="solid"/>
                <a:round/>
                <a:headEnd len="sm" w="sm" type="none"/>
                <a:tailEnd len="sm" w="sm" type="none"/>
              </a:ln>
            </p:spPr>
            <p:txBody>
              <a:bodyPr anchorCtr="0" anchor="ctr" bIns="83475" lIns="83475" spcFirstLastPara="1" rIns="83475" wrap="square" tIns="83475">
                <a:noAutofit/>
              </a:bodyPr>
              <a:lstStyle/>
              <a:p>
                <a:pPr indent="0" lvl="0" marL="0" rtl="0" algn="ctr">
                  <a:spcBef>
                    <a:spcPts val="0"/>
                  </a:spcBef>
                  <a:spcAft>
                    <a:spcPts val="0"/>
                  </a:spcAft>
                  <a:buNone/>
                </a:pPr>
                <a:r>
                  <a:t/>
                </a:r>
                <a:endParaRPr sz="1278">
                  <a:latin typeface="Lato"/>
                  <a:ea typeface="Lato"/>
                  <a:cs typeface="Lato"/>
                  <a:sym typeface="Lato"/>
                </a:endParaRPr>
              </a:p>
            </p:txBody>
          </p:sp>
          <p:sp>
            <p:nvSpPr>
              <p:cNvPr id="107" name="Google Shape;107;p18"/>
              <p:cNvSpPr/>
              <p:nvPr/>
            </p:nvSpPr>
            <p:spPr>
              <a:xfrm>
                <a:off x="3620400" y="2908200"/>
                <a:ext cx="1408800" cy="297300"/>
              </a:xfrm>
              <a:prstGeom prst="rect">
                <a:avLst/>
              </a:prstGeom>
              <a:solidFill>
                <a:srgbClr val="D9EAD3"/>
              </a:solidFill>
              <a:ln cap="flat" cmpd="sng" w="8700">
                <a:solidFill>
                  <a:srgbClr val="5E696C"/>
                </a:solidFill>
                <a:prstDash val="solid"/>
                <a:round/>
                <a:headEnd len="sm" w="sm" type="none"/>
                <a:tailEnd len="sm" w="sm" type="none"/>
              </a:ln>
            </p:spPr>
            <p:txBody>
              <a:bodyPr anchorCtr="0" anchor="ctr" bIns="83475" lIns="83475" spcFirstLastPara="1" rIns="83475" wrap="square" tIns="83475">
                <a:noAutofit/>
              </a:bodyPr>
              <a:lstStyle/>
              <a:p>
                <a:pPr indent="0" lvl="0" marL="0" rtl="0" algn="ctr">
                  <a:spcBef>
                    <a:spcPts val="0"/>
                  </a:spcBef>
                  <a:spcAft>
                    <a:spcPts val="0"/>
                  </a:spcAft>
                  <a:buNone/>
                </a:pPr>
                <a:r>
                  <a:t/>
                </a:r>
                <a:endParaRPr sz="1278">
                  <a:latin typeface="Lato"/>
                  <a:ea typeface="Lato"/>
                  <a:cs typeface="Lato"/>
                  <a:sym typeface="Lato"/>
                </a:endParaRPr>
              </a:p>
            </p:txBody>
          </p:sp>
          <p:sp>
            <p:nvSpPr>
              <p:cNvPr id="108" name="Google Shape;108;p18"/>
              <p:cNvSpPr/>
              <p:nvPr/>
            </p:nvSpPr>
            <p:spPr>
              <a:xfrm>
                <a:off x="3620400" y="2436475"/>
                <a:ext cx="1408800" cy="297300"/>
              </a:xfrm>
              <a:prstGeom prst="rect">
                <a:avLst/>
              </a:prstGeom>
              <a:solidFill>
                <a:srgbClr val="D9EAD3"/>
              </a:solidFill>
              <a:ln cap="flat" cmpd="sng" w="8700">
                <a:solidFill>
                  <a:srgbClr val="5E696C"/>
                </a:solidFill>
                <a:prstDash val="solid"/>
                <a:round/>
                <a:headEnd len="sm" w="sm" type="none"/>
                <a:tailEnd len="sm" w="sm" type="none"/>
              </a:ln>
            </p:spPr>
            <p:txBody>
              <a:bodyPr anchorCtr="0" anchor="ctr" bIns="83475" lIns="83475" spcFirstLastPara="1" rIns="83475" wrap="square" tIns="83475">
                <a:noAutofit/>
              </a:bodyPr>
              <a:lstStyle/>
              <a:p>
                <a:pPr indent="0" lvl="0" marL="0" rtl="0" algn="ctr">
                  <a:spcBef>
                    <a:spcPts val="0"/>
                  </a:spcBef>
                  <a:spcAft>
                    <a:spcPts val="0"/>
                  </a:spcAft>
                  <a:buNone/>
                </a:pPr>
                <a:r>
                  <a:t/>
                </a:r>
                <a:endParaRPr sz="1278">
                  <a:latin typeface="Lato"/>
                  <a:ea typeface="Lato"/>
                  <a:cs typeface="Lato"/>
                  <a:sym typeface="Lato"/>
                </a:endParaRPr>
              </a:p>
            </p:txBody>
          </p:sp>
          <p:sp>
            <p:nvSpPr>
              <p:cNvPr id="109" name="Google Shape;109;p18"/>
              <p:cNvSpPr/>
              <p:nvPr/>
            </p:nvSpPr>
            <p:spPr>
              <a:xfrm>
                <a:off x="7331000" y="1842000"/>
                <a:ext cx="696000" cy="2429700"/>
              </a:xfrm>
              <a:prstGeom prst="rect">
                <a:avLst/>
              </a:prstGeom>
              <a:solidFill>
                <a:srgbClr val="EAD1DC"/>
              </a:solidFill>
              <a:ln cap="flat" cmpd="sng" w="8700">
                <a:solidFill>
                  <a:srgbClr val="5E696C"/>
                </a:solidFill>
                <a:prstDash val="solid"/>
                <a:round/>
                <a:headEnd len="sm" w="sm" type="none"/>
                <a:tailEnd len="sm" w="sm" type="none"/>
              </a:ln>
            </p:spPr>
            <p:txBody>
              <a:bodyPr anchorCtr="0" anchor="ctr" bIns="83475" lIns="83475" spcFirstLastPara="1" rIns="83475" wrap="square" tIns="83475">
                <a:noAutofit/>
              </a:bodyPr>
              <a:lstStyle/>
              <a:p>
                <a:pPr indent="0" lvl="0" marL="0" rtl="0" algn="ctr">
                  <a:spcBef>
                    <a:spcPts val="0"/>
                  </a:spcBef>
                  <a:spcAft>
                    <a:spcPts val="0"/>
                  </a:spcAft>
                  <a:buNone/>
                </a:pPr>
                <a:r>
                  <a:t/>
                </a:r>
                <a:endParaRPr sz="1278">
                  <a:latin typeface="Lato"/>
                  <a:ea typeface="Lato"/>
                  <a:cs typeface="Lato"/>
                  <a:sym typeface="Lato"/>
                </a:endParaRPr>
              </a:p>
            </p:txBody>
          </p:sp>
          <p:sp>
            <p:nvSpPr>
              <p:cNvPr id="110" name="Google Shape;110;p18"/>
              <p:cNvSpPr/>
              <p:nvPr/>
            </p:nvSpPr>
            <p:spPr>
              <a:xfrm>
                <a:off x="6195975" y="1842000"/>
                <a:ext cx="518100" cy="2429700"/>
              </a:xfrm>
              <a:prstGeom prst="rect">
                <a:avLst/>
              </a:prstGeom>
              <a:solidFill>
                <a:srgbClr val="EAD1DC"/>
              </a:solidFill>
              <a:ln cap="flat" cmpd="sng" w="8700">
                <a:solidFill>
                  <a:srgbClr val="5E696C"/>
                </a:solidFill>
                <a:prstDash val="solid"/>
                <a:round/>
                <a:headEnd len="sm" w="sm" type="none"/>
                <a:tailEnd len="sm" w="sm" type="none"/>
              </a:ln>
            </p:spPr>
            <p:txBody>
              <a:bodyPr anchorCtr="0" anchor="ctr" bIns="83475" lIns="83475" spcFirstLastPara="1" rIns="83475" wrap="square" tIns="83475">
                <a:noAutofit/>
              </a:bodyPr>
              <a:lstStyle/>
              <a:p>
                <a:pPr indent="0" lvl="0" marL="0" rtl="0" algn="ctr">
                  <a:spcBef>
                    <a:spcPts val="0"/>
                  </a:spcBef>
                  <a:spcAft>
                    <a:spcPts val="0"/>
                  </a:spcAft>
                  <a:buNone/>
                </a:pPr>
                <a:r>
                  <a:t/>
                </a:r>
                <a:endParaRPr sz="1278">
                  <a:latin typeface="Lato"/>
                  <a:ea typeface="Lato"/>
                  <a:cs typeface="Lato"/>
                  <a:sym typeface="Lato"/>
                </a:endParaRPr>
              </a:p>
            </p:txBody>
          </p:sp>
          <p:sp>
            <p:nvSpPr>
              <p:cNvPr id="111" name="Google Shape;111;p18"/>
              <p:cNvSpPr txBox="1"/>
              <p:nvPr/>
            </p:nvSpPr>
            <p:spPr>
              <a:xfrm>
                <a:off x="742400" y="1157075"/>
                <a:ext cx="1408800" cy="258600"/>
              </a:xfrm>
              <a:prstGeom prst="rect">
                <a:avLst/>
              </a:prstGeom>
              <a:noFill/>
              <a:ln>
                <a:noFill/>
              </a:ln>
            </p:spPr>
            <p:txBody>
              <a:bodyPr anchorCtr="0" anchor="ctr" bIns="83475" lIns="83475" spcFirstLastPara="1" rIns="83475" wrap="square" tIns="83475">
                <a:noAutofit/>
              </a:bodyPr>
              <a:lstStyle/>
              <a:p>
                <a:pPr indent="0" lvl="0" marL="0" rtl="0" algn="l">
                  <a:spcBef>
                    <a:spcPts val="0"/>
                  </a:spcBef>
                  <a:spcAft>
                    <a:spcPts val="0"/>
                  </a:spcAft>
                  <a:buNone/>
                </a:pPr>
                <a:r>
                  <a:rPr b="1" lang="en" sz="1643">
                    <a:latin typeface="Lato"/>
                    <a:ea typeface="Lato"/>
                    <a:cs typeface="Lato"/>
                    <a:sym typeface="Lato"/>
                  </a:rPr>
                  <a:t>Tb_top</a:t>
                </a:r>
                <a:endParaRPr b="1" sz="1643">
                  <a:latin typeface="Lato"/>
                  <a:ea typeface="Lato"/>
                  <a:cs typeface="Lato"/>
                  <a:sym typeface="Lato"/>
                </a:endParaRPr>
              </a:p>
            </p:txBody>
          </p:sp>
          <p:sp>
            <p:nvSpPr>
              <p:cNvPr id="112" name="Google Shape;112;p18"/>
              <p:cNvSpPr txBox="1"/>
              <p:nvPr/>
            </p:nvSpPr>
            <p:spPr>
              <a:xfrm>
                <a:off x="818600" y="1538075"/>
                <a:ext cx="1408800" cy="258600"/>
              </a:xfrm>
              <a:prstGeom prst="rect">
                <a:avLst/>
              </a:prstGeom>
              <a:noFill/>
              <a:ln>
                <a:noFill/>
              </a:ln>
            </p:spPr>
            <p:txBody>
              <a:bodyPr anchorCtr="0" anchor="ctr" bIns="83475" lIns="83475" spcFirstLastPara="1" rIns="83475" wrap="square" tIns="83475">
                <a:noAutofit/>
              </a:bodyPr>
              <a:lstStyle/>
              <a:p>
                <a:pPr indent="0" lvl="0" marL="0" rtl="0" algn="l">
                  <a:spcBef>
                    <a:spcPts val="0"/>
                  </a:spcBef>
                  <a:spcAft>
                    <a:spcPts val="0"/>
                  </a:spcAft>
                  <a:buNone/>
                </a:pPr>
                <a:r>
                  <a:rPr b="1" lang="en" sz="1461">
                    <a:latin typeface="Lato"/>
                    <a:ea typeface="Lato"/>
                    <a:cs typeface="Lato"/>
                    <a:sym typeface="Lato"/>
                  </a:rPr>
                  <a:t>Test</a:t>
                </a:r>
                <a:endParaRPr b="1" sz="1461">
                  <a:latin typeface="Lato"/>
                  <a:ea typeface="Lato"/>
                  <a:cs typeface="Lato"/>
                  <a:sym typeface="Lato"/>
                </a:endParaRPr>
              </a:p>
            </p:txBody>
          </p:sp>
          <p:sp>
            <p:nvSpPr>
              <p:cNvPr id="113" name="Google Shape;113;p18"/>
              <p:cNvSpPr txBox="1"/>
              <p:nvPr/>
            </p:nvSpPr>
            <p:spPr>
              <a:xfrm>
                <a:off x="908075" y="1842875"/>
                <a:ext cx="1744800" cy="258600"/>
              </a:xfrm>
              <a:prstGeom prst="rect">
                <a:avLst/>
              </a:prstGeom>
              <a:noFill/>
              <a:ln>
                <a:noFill/>
              </a:ln>
            </p:spPr>
            <p:txBody>
              <a:bodyPr anchorCtr="0" anchor="ctr" bIns="83475" lIns="83475" spcFirstLastPara="1" rIns="83475" wrap="square" tIns="83475">
                <a:noAutofit/>
              </a:bodyPr>
              <a:lstStyle/>
              <a:p>
                <a:pPr indent="0" lvl="0" marL="0" rtl="0" algn="l">
                  <a:spcBef>
                    <a:spcPts val="0"/>
                  </a:spcBef>
                  <a:spcAft>
                    <a:spcPts val="0"/>
                  </a:spcAft>
                  <a:buNone/>
                </a:pPr>
                <a:r>
                  <a:rPr b="1" lang="en" sz="1461">
                    <a:latin typeface="Lato"/>
                    <a:ea typeface="Lato"/>
                    <a:cs typeface="Lato"/>
                    <a:sym typeface="Lato"/>
                  </a:rPr>
                  <a:t>Environment</a:t>
                </a:r>
                <a:endParaRPr b="1" sz="1461">
                  <a:latin typeface="Lato"/>
                  <a:ea typeface="Lato"/>
                  <a:cs typeface="Lato"/>
                  <a:sym typeface="Lato"/>
                </a:endParaRPr>
              </a:p>
            </p:txBody>
          </p:sp>
          <p:sp>
            <p:nvSpPr>
              <p:cNvPr id="114" name="Google Shape;114;p18"/>
              <p:cNvSpPr txBox="1"/>
              <p:nvPr/>
            </p:nvSpPr>
            <p:spPr>
              <a:xfrm>
                <a:off x="1123400" y="2147675"/>
                <a:ext cx="1408800" cy="258600"/>
              </a:xfrm>
              <a:prstGeom prst="rect">
                <a:avLst/>
              </a:prstGeom>
              <a:noFill/>
              <a:ln>
                <a:noFill/>
              </a:ln>
            </p:spPr>
            <p:txBody>
              <a:bodyPr anchorCtr="0" anchor="ctr" bIns="83475" lIns="83475" spcFirstLastPara="1" rIns="83475" wrap="square" tIns="83475">
                <a:noAutofit/>
              </a:bodyPr>
              <a:lstStyle/>
              <a:p>
                <a:pPr indent="0" lvl="0" marL="0" rtl="0" algn="l">
                  <a:spcBef>
                    <a:spcPts val="0"/>
                  </a:spcBef>
                  <a:spcAft>
                    <a:spcPts val="0"/>
                  </a:spcAft>
                  <a:buNone/>
                </a:pPr>
                <a:r>
                  <a:rPr b="1" lang="en" sz="1369">
                    <a:latin typeface="Lato"/>
                    <a:ea typeface="Lato"/>
                    <a:cs typeface="Lato"/>
                    <a:sym typeface="Lato"/>
                  </a:rPr>
                  <a:t>Agent</a:t>
                </a:r>
                <a:endParaRPr b="1" sz="1369">
                  <a:latin typeface="Lato"/>
                  <a:ea typeface="Lato"/>
                  <a:cs typeface="Lato"/>
                  <a:sym typeface="Lato"/>
                </a:endParaRPr>
              </a:p>
            </p:txBody>
          </p:sp>
          <p:sp>
            <p:nvSpPr>
              <p:cNvPr id="115" name="Google Shape;115;p18"/>
              <p:cNvSpPr txBox="1"/>
              <p:nvPr/>
            </p:nvSpPr>
            <p:spPr>
              <a:xfrm>
                <a:off x="1142775" y="2451688"/>
                <a:ext cx="1408800" cy="258600"/>
              </a:xfrm>
              <a:prstGeom prst="rect">
                <a:avLst/>
              </a:prstGeom>
              <a:noFill/>
              <a:ln>
                <a:noFill/>
              </a:ln>
            </p:spPr>
            <p:txBody>
              <a:bodyPr anchorCtr="0" anchor="ctr" bIns="83475" lIns="83475" spcFirstLastPara="1" rIns="83475" wrap="square" tIns="83475">
                <a:noAutofit/>
              </a:bodyPr>
              <a:lstStyle/>
              <a:p>
                <a:pPr indent="0" lvl="0" marL="0" rtl="0" algn="ctr">
                  <a:spcBef>
                    <a:spcPts val="0"/>
                  </a:spcBef>
                  <a:spcAft>
                    <a:spcPts val="0"/>
                  </a:spcAft>
                  <a:buNone/>
                </a:pPr>
                <a:r>
                  <a:rPr b="1" lang="en" sz="1369">
                    <a:latin typeface="Lato"/>
                    <a:ea typeface="Lato"/>
                    <a:cs typeface="Lato"/>
                    <a:sym typeface="Lato"/>
                  </a:rPr>
                  <a:t>Generator</a:t>
                </a:r>
                <a:endParaRPr b="1" sz="1369">
                  <a:latin typeface="Lato"/>
                  <a:ea typeface="Lato"/>
                  <a:cs typeface="Lato"/>
                  <a:sym typeface="Lato"/>
                </a:endParaRPr>
              </a:p>
            </p:txBody>
          </p:sp>
          <p:sp>
            <p:nvSpPr>
              <p:cNvPr id="116" name="Google Shape;116;p18"/>
              <p:cNvSpPr txBox="1"/>
              <p:nvPr/>
            </p:nvSpPr>
            <p:spPr>
              <a:xfrm>
                <a:off x="1131800" y="2927450"/>
                <a:ext cx="1408800" cy="258600"/>
              </a:xfrm>
              <a:prstGeom prst="rect">
                <a:avLst/>
              </a:prstGeom>
              <a:noFill/>
              <a:ln>
                <a:noFill/>
              </a:ln>
            </p:spPr>
            <p:txBody>
              <a:bodyPr anchorCtr="0" anchor="ctr" bIns="83475" lIns="83475" spcFirstLastPara="1" rIns="83475" wrap="square" tIns="83475">
                <a:noAutofit/>
              </a:bodyPr>
              <a:lstStyle/>
              <a:p>
                <a:pPr indent="0" lvl="0" marL="0" rtl="0" algn="ctr">
                  <a:spcBef>
                    <a:spcPts val="0"/>
                  </a:spcBef>
                  <a:spcAft>
                    <a:spcPts val="0"/>
                  </a:spcAft>
                  <a:buNone/>
                </a:pPr>
                <a:r>
                  <a:rPr b="1" lang="en" sz="1369">
                    <a:latin typeface="Lato"/>
                    <a:ea typeface="Lato"/>
                    <a:cs typeface="Lato"/>
                    <a:sym typeface="Lato"/>
                  </a:rPr>
                  <a:t>Coverage</a:t>
                </a:r>
                <a:endParaRPr b="1" sz="1369">
                  <a:latin typeface="Lato"/>
                  <a:ea typeface="Lato"/>
                  <a:cs typeface="Lato"/>
                  <a:sym typeface="Lato"/>
                </a:endParaRPr>
              </a:p>
            </p:txBody>
          </p:sp>
          <p:sp>
            <p:nvSpPr>
              <p:cNvPr id="117" name="Google Shape;117;p18"/>
              <p:cNvSpPr txBox="1"/>
              <p:nvPr/>
            </p:nvSpPr>
            <p:spPr>
              <a:xfrm>
                <a:off x="3620400" y="2452475"/>
                <a:ext cx="1408800" cy="258600"/>
              </a:xfrm>
              <a:prstGeom prst="rect">
                <a:avLst/>
              </a:prstGeom>
              <a:noFill/>
              <a:ln>
                <a:noFill/>
              </a:ln>
            </p:spPr>
            <p:txBody>
              <a:bodyPr anchorCtr="0" anchor="ctr" bIns="83475" lIns="83475" spcFirstLastPara="1" rIns="83475" wrap="square" tIns="83475">
                <a:noAutofit/>
              </a:bodyPr>
              <a:lstStyle/>
              <a:p>
                <a:pPr indent="0" lvl="0" marL="0" rtl="0" algn="ctr">
                  <a:spcBef>
                    <a:spcPts val="0"/>
                  </a:spcBef>
                  <a:spcAft>
                    <a:spcPts val="0"/>
                  </a:spcAft>
                  <a:buNone/>
                </a:pPr>
                <a:r>
                  <a:rPr b="1" lang="en" sz="1369">
                    <a:latin typeface="Lato"/>
                    <a:ea typeface="Lato"/>
                    <a:cs typeface="Lato"/>
                    <a:sym typeface="Lato"/>
                  </a:rPr>
                  <a:t>Driver</a:t>
                </a:r>
                <a:endParaRPr b="1" sz="1369">
                  <a:latin typeface="Lato"/>
                  <a:ea typeface="Lato"/>
                  <a:cs typeface="Lato"/>
                  <a:sym typeface="Lato"/>
                </a:endParaRPr>
              </a:p>
            </p:txBody>
          </p:sp>
          <p:sp>
            <p:nvSpPr>
              <p:cNvPr id="118" name="Google Shape;118;p18"/>
              <p:cNvSpPr txBox="1"/>
              <p:nvPr/>
            </p:nvSpPr>
            <p:spPr>
              <a:xfrm>
                <a:off x="3772800" y="2927450"/>
                <a:ext cx="1227900" cy="258600"/>
              </a:xfrm>
              <a:prstGeom prst="rect">
                <a:avLst/>
              </a:prstGeom>
              <a:noFill/>
              <a:ln>
                <a:noFill/>
              </a:ln>
            </p:spPr>
            <p:txBody>
              <a:bodyPr anchorCtr="0" anchor="ctr" bIns="83475" lIns="83475" spcFirstLastPara="1" rIns="83475" wrap="square" tIns="83475">
                <a:noAutofit/>
              </a:bodyPr>
              <a:lstStyle/>
              <a:p>
                <a:pPr indent="0" lvl="0" marL="0" rtl="0" algn="ctr">
                  <a:spcBef>
                    <a:spcPts val="0"/>
                  </a:spcBef>
                  <a:spcAft>
                    <a:spcPts val="0"/>
                  </a:spcAft>
                  <a:buNone/>
                </a:pPr>
                <a:r>
                  <a:rPr b="1" lang="en" sz="1369">
                    <a:latin typeface="Lato"/>
                    <a:ea typeface="Lato"/>
                    <a:cs typeface="Lato"/>
                    <a:sym typeface="Lato"/>
                  </a:rPr>
                  <a:t>Monitor</a:t>
                </a:r>
                <a:endParaRPr b="1" sz="1369">
                  <a:latin typeface="Lato"/>
                  <a:ea typeface="Lato"/>
                  <a:cs typeface="Lato"/>
                  <a:sym typeface="Lato"/>
                </a:endParaRPr>
              </a:p>
            </p:txBody>
          </p:sp>
          <p:sp>
            <p:nvSpPr>
              <p:cNvPr id="119" name="Google Shape;119;p18"/>
              <p:cNvSpPr txBox="1"/>
              <p:nvPr/>
            </p:nvSpPr>
            <p:spPr>
              <a:xfrm>
                <a:off x="2227400" y="3810025"/>
                <a:ext cx="1408800" cy="258600"/>
              </a:xfrm>
              <a:prstGeom prst="rect">
                <a:avLst/>
              </a:prstGeom>
              <a:noFill/>
              <a:ln>
                <a:noFill/>
              </a:ln>
            </p:spPr>
            <p:txBody>
              <a:bodyPr anchorCtr="0" anchor="ctr" bIns="83475" lIns="83475" spcFirstLastPara="1" rIns="83475" wrap="square" tIns="83475">
                <a:noAutofit/>
              </a:bodyPr>
              <a:lstStyle/>
              <a:p>
                <a:pPr indent="0" lvl="0" marL="0" rtl="0" algn="l">
                  <a:spcBef>
                    <a:spcPts val="0"/>
                  </a:spcBef>
                  <a:spcAft>
                    <a:spcPts val="0"/>
                  </a:spcAft>
                  <a:buNone/>
                </a:pPr>
                <a:r>
                  <a:rPr b="1" lang="en" sz="1643">
                    <a:latin typeface="Lato"/>
                    <a:ea typeface="Lato"/>
                    <a:cs typeface="Lato"/>
                    <a:sym typeface="Lato"/>
                  </a:rPr>
                  <a:t>Scoreboard</a:t>
                </a:r>
                <a:endParaRPr b="1" sz="1643">
                  <a:latin typeface="Lato"/>
                  <a:ea typeface="Lato"/>
                  <a:cs typeface="Lato"/>
                  <a:sym typeface="Lato"/>
                </a:endParaRPr>
              </a:p>
            </p:txBody>
          </p:sp>
          <p:cxnSp>
            <p:nvCxnSpPr>
              <p:cNvPr id="120" name="Google Shape;120;p18"/>
              <p:cNvCxnSpPr>
                <a:stCxn id="115" idx="3"/>
                <a:endCxn id="117" idx="1"/>
              </p:cNvCxnSpPr>
              <p:nvPr/>
            </p:nvCxnSpPr>
            <p:spPr>
              <a:xfrm>
                <a:off x="2551575" y="2580988"/>
                <a:ext cx="1068900" cy="900"/>
              </a:xfrm>
              <a:prstGeom prst="straightConnector1">
                <a:avLst/>
              </a:prstGeom>
              <a:noFill/>
              <a:ln cap="flat" cmpd="sng" w="26100">
                <a:solidFill>
                  <a:srgbClr val="000000"/>
                </a:solidFill>
                <a:prstDash val="solid"/>
                <a:round/>
                <a:headEnd len="med" w="med" type="none"/>
                <a:tailEnd len="med" w="med" type="stealth"/>
              </a:ln>
            </p:spPr>
          </p:cxnSp>
          <p:cxnSp>
            <p:nvCxnSpPr>
              <p:cNvPr id="121" name="Google Shape;121;p18"/>
              <p:cNvCxnSpPr/>
              <p:nvPr/>
            </p:nvCxnSpPr>
            <p:spPr>
              <a:xfrm>
                <a:off x="4298325" y="3205500"/>
                <a:ext cx="0" cy="567600"/>
              </a:xfrm>
              <a:prstGeom prst="straightConnector1">
                <a:avLst/>
              </a:prstGeom>
              <a:noFill/>
              <a:ln cap="flat" cmpd="sng" w="26100">
                <a:solidFill>
                  <a:srgbClr val="000000"/>
                </a:solidFill>
                <a:prstDash val="solid"/>
                <a:round/>
                <a:headEnd len="med" w="med" type="none"/>
                <a:tailEnd len="med" w="med" type="stealth"/>
              </a:ln>
            </p:spPr>
          </p:cxnSp>
          <p:sp>
            <p:nvSpPr>
              <p:cNvPr id="122" name="Google Shape;122;p18"/>
              <p:cNvSpPr/>
              <p:nvPr/>
            </p:nvSpPr>
            <p:spPr>
              <a:xfrm>
                <a:off x="2714800" y="2757950"/>
                <a:ext cx="646800" cy="169500"/>
              </a:xfrm>
              <a:prstGeom prst="rect">
                <a:avLst/>
              </a:prstGeom>
              <a:solidFill>
                <a:srgbClr val="EAD1DC"/>
              </a:solidFill>
              <a:ln cap="flat" cmpd="sng" w="8700">
                <a:solidFill>
                  <a:srgbClr val="5E696C"/>
                </a:solidFill>
                <a:prstDash val="solid"/>
                <a:round/>
                <a:headEnd len="sm" w="sm" type="none"/>
                <a:tailEnd len="sm" w="sm" type="none"/>
              </a:ln>
            </p:spPr>
            <p:txBody>
              <a:bodyPr anchorCtr="0" anchor="ctr" bIns="83475" lIns="83475" spcFirstLastPara="1" rIns="83475" wrap="square" tIns="83475">
                <a:noAutofit/>
              </a:bodyPr>
              <a:lstStyle/>
              <a:p>
                <a:pPr indent="0" lvl="0" marL="0" rtl="0" algn="ctr">
                  <a:spcBef>
                    <a:spcPts val="0"/>
                  </a:spcBef>
                  <a:spcAft>
                    <a:spcPts val="0"/>
                  </a:spcAft>
                  <a:buNone/>
                </a:pPr>
                <a:r>
                  <a:rPr lang="en" sz="1278">
                    <a:latin typeface="Lato"/>
                    <a:ea typeface="Lato"/>
                    <a:cs typeface="Lato"/>
                    <a:sym typeface="Lato"/>
                  </a:rPr>
                  <a:t>Trans</a:t>
                </a:r>
                <a:endParaRPr sz="1278">
                  <a:latin typeface="Lato"/>
                  <a:ea typeface="Lato"/>
                  <a:cs typeface="Lato"/>
                  <a:sym typeface="Lato"/>
                </a:endParaRPr>
              </a:p>
            </p:txBody>
          </p:sp>
          <p:sp>
            <p:nvSpPr>
              <p:cNvPr id="123" name="Google Shape;123;p18"/>
              <p:cNvSpPr/>
              <p:nvPr/>
            </p:nvSpPr>
            <p:spPr>
              <a:xfrm>
                <a:off x="2714800" y="2348300"/>
                <a:ext cx="646800" cy="169500"/>
              </a:xfrm>
              <a:prstGeom prst="rect">
                <a:avLst/>
              </a:prstGeom>
              <a:solidFill>
                <a:srgbClr val="EAD1DC"/>
              </a:solidFill>
              <a:ln cap="flat" cmpd="sng" w="8700">
                <a:solidFill>
                  <a:srgbClr val="5E696C"/>
                </a:solidFill>
                <a:prstDash val="solid"/>
                <a:round/>
                <a:headEnd len="sm" w="sm" type="none"/>
                <a:tailEnd len="sm" w="sm" type="none"/>
              </a:ln>
            </p:spPr>
            <p:txBody>
              <a:bodyPr anchorCtr="0" anchor="ctr" bIns="83475" lIns="83475" spcFirstLastPara="1" rIns="83475" wrap="square" tIns="83475">
                <a:noAutofit/>
              </a:bodyPr>
              <a:lstStyle/>
              <a:p>
                <a:pPr indent="0" lvl="0" marL="0" rtl="0" algn="ctr">
                  <a:spcBef>
                    <a:spcPts val="0"/>
                  </a:spcBef>
                  <a:spcAft>
                    <a:spcPts val="0"/>
                  </a:spcAft>
                  <a:buNone/>
                </a:pPr>
                <a:r>
                  <a:t/>
                </a:r>
                <a:endParaRPr sz="1278">
                  <a:latin typeface="Lato"/>
                  <a:ea typeface="Lato"/>
                  <a:cs typeface="Lato"/>
                  <a:sym typeface="Lato"/>
                </a:endParaRPr>
              </a:p>
            </p:txBody>
          </p:sp>
          <p:cxnSp>
            <p:nvCxnSpPr>
              <p:cNvPr id="124" name="Google Shape;124;p18"/>
              <p:cNvCxnSpPr/>
              <p:nvPr/>
            </p:nvCxnSpPr>
            <p:spPr>
              <a:xfrm flipH="1">
                <a:off x="2551575" y="3038188"/>
                <a:ext cx="1068900" cy="900"/>
              </a:xfrm>
              <a:prstGeom prst="straightConnector1">
                <a:avLst/>
              </a:prstGeom>
              <a:noFill/>
              <a:ln cap="flat" cmpd="sng" w="26100">
                <a:solidFill>
                  <a:srgbClr val="000000"/>
                </a:solidFill>
                <a:prstDash val="solid"/>
                <a:round/>
                <a:headEnd len="med" w="med" type="none"/>
                <a:tailEnd len="med" w="med" type="stealth"/>
              </a:ln>
            </p:spPr>
          </p:cxnSp>
          <p:sp>
            <p:nvSpPr>
              <p:cNvPr id="125" name="Google Shape;125;p18"/>
              <p:cNvSpPr txBox="1"/>
              <p:nvPr/>
            </p:nvSpPr>
            <p:spPr>
              <a:xfrm>
                <a:off x="6325900" y="1910875"/>
                <a:ext cx="317400" cy="2319600"/>
              </a:xfrm>
              <a:prstGeom prst="rect">
                <a:avLst/>
              </a:prstGeom>
              <a:noFill/>
              <a:ln>
                <a:noFill/>
              </a:ln>
            </p:spPr>
            <p:txBody>
              <a:bodyPr anchorCtr="0" anchor="t" bIns="83475" lIns="83475" spcFirstLastPara="1" rIns="83475" wrap="square" tIns="83475">
                <a:noAutofit/>
              </a:bodyPr>
              <a:lstStyle/>
              <a:p>
                <a:pPr indent="0" lvl="0" marL="0" rtl="0" algn="l">
                  <a:spcBef>
                    <a:spcPts val="0"/>
                  </a:spcBef>
                  <a:spcAft>
                    <a:spcPts val="0"/>
                  </a:spcAft>
                  <a:buNone/>
                </a:pPr>
                <a:r>
                  <a:rPr b="1" lang="en" sz="1369">
                    <a:latin typeface="Lato"/>
                    <a:ea typeface="Lato"/>
                    <a:cs typeface="Lato"/>
                    <a:sym typeface="Lato"/>
                  </a:rPr>
                  <a:t>Interface</a:t>
                </a:r>
                <a:endParaRPr b="1" sz="1369">
                  <a:latin typeface="Lato"/>
                  <a:ea typeface="Lato"/>
                  <a:cs typeface="Lato"/>
                  <a:sym typeface="Lato"/>
                </a:endParaRPr>
              </a:p>
            </p:txBody>
          </p:sp>
          <p:sp>
            <p:nvSpPr>
              <p:cNvPr id="126" name="Google Shape;126;p18"/>
              <p:cNvSpPr txBox="1"/>
              <p:nvPr/>
            </p:nvSpPr>
            <p:spPr>
              <a:xfrm>
                <a:off x="7393050" y="2625250"/>
                <a:ext cx="582000" cy="846600"/>
              </a:xfrm>
              <a:prstGeom prst="rect">
                <a:avLst/>
              </a:prstGeom>
              <a:noFill/>
              <a:ln>
                <a:noFill/>
              </a:ln>
            </p:spPr>
            <p:txBody>
              <a:bodyPr anchorCtr="0" anchor="ctr" bIns="83475" lIns="83475" spcFirstLastPara="1" rIns="83475" wrap="square" tIns="83475">
                <a:noAutofit/>
              </a:bodyPr>
              <a:lstStyle/>
              <a:p>
                <a:pPr indent="0" lvl="0" marL="0" rtl="0" algn="l">
                  <a:spcBef>
                    <a:spcPts val="0"/>
                  </a:spcBef>
                  <a:spcAft>
                    <a:spcPts val="0"/>
                  </a:spcAft>
                  <a:buNone/>
                </a:pPr>
                <a:r>
                  <a:rPr b="1" lang="en" sz="1369">
                    <a:latin typeface="Lato"/>
                    <a:ea typeface="Lato"/>
                    <a:cs typeface="Lato"/>
                    <a:sym typeface="Lato"/>
                  </a:rPr>
                  <a:t>DUT</a:t>
                </a:r>
                <a:endParaRPr b="1" sz="1369">
                  <a:latin typeface="Lato"/>
                  <a:ea typeface="Lato"/>
                  <a:cs typeface="Lato"/>
                  <a:sym typeface="Lato"/>
                </a:endParaRPr>
              </a:p>
            </p:txBody>
          </p:sp>
          <p:cxnSp>
            <p:nvCxnSpPr>
              <p:cNvPr id="127" name="Google Shape;127;p18"/>
              <p:cNvCxnSpPr>
                <a:stCxn id="117" idx="3"/>
              </p:cNvCxnSpPr>
              <p:nvPr/>
            </p:nvCxnSpPr>
            <p:spPr>
              <a:xfrm flipH="1" rot="10800000">
                <a:off x="5029200" y="2581175"/>
                <a:ext cx="1164300" cy="600"/>
              </a:xfrm>
              <a:prstGeom prst="straightConnector1">
                <a:avLst/>
              </a:prstGeom>
              <a:noFill/>
              <a:ln cap="flat" cmpd="sng" w="26100">
                <a:solidFill>
                  <a:srgbClr val="000000"/>
                </a:solidFill>
                <a:prstDash val="solid"/>
                <a:round/>
                <a:headEnd len="med" w="med" type="none"/>
                <a:tailEnd len="med" w="med" type="stealth"/>
              </a:ln>
            </p:spPr>
          </p:cxnSp>
          <p:cxnSp>
            <p:nvCxnSpPr>
              <p:cNvPr id="128" name="Google Shape;128;p18"/>
              <p:cNvCxnSpPr/>
              <p:nvPr/>
            </p:nvCxnSpPr>
            <p:spPr>
              <a:xfrm rot="10800000">
                <a:off x="5029200" y="3038375"/>
                <a:ext cx="1164300" cy="600"/>
              </a:xfrm>
              <a:prstGeom prst="straightConnector1">
                <a:avLst/>
              </a:prstGeom>
              <a:noFill/>
              <a:ln cap="flat" cmpd="sng" w="26100">
                <a:solidFill>
                  <a:srgbClr val="000000"/>
                </a:solidFill>
                <a:prstDash val="solid"/>
                <a:round/>
                <a:headEnd len="med" w="med" type="none"/>
                <a:tailEnd len="med" w="med" type="stealth"/>
              </a:ln>
            </p:spPr>
          </p:cxnSp>
          <p:sp>
            <p:nvSpPr>
              <p:cNvPr id="129" name="Google Shape;129;p18"/>
              <p:cNvSpPr/>
              <p:nvPr/>
            </p:nvSpPr>
            <p:spPr>
              <a:xfrm>
                <a:off x="6714075" y="3012600"/>
                <a:ext cx="617100" cy="169500"/>
              </a:xfrm>
              <a:prstGeom prst="leftRightArrow">
                <a:avLst>
                  <a:gd fmla="val 50000" name="adj1"/>
                  <a:gd fmla="val 50000" name="adj2"/>
                </a:avLst>
              </a:prstGeom>
              <a:solidFill>
                <a:srgbClr val="000000"/>
              </a:solidFill>
              <a:ln cap="flat" cmpd="sng" w="8700">
                <a:solidFill>
                  <a:srgbClr val="000000"/>
                </a:solidFill>
                <a:prstDash val="solid"/>
                <a:round/>
                <a:headEnd len="sm" w="sm" type="none"/>
                <a:tailEnd len="sm" w="sm" type="none"/>
              </a:ln>
            </p:spPr>
            <p:txBody>
              <a:bodyPr anchorCtr="0" anchor="ctr" bIns="83475" lIns="83475" spcFirstLastPara="1" rIns="83475" wrap="square" tIns="83475">
                <a:noAutofit/>
              </a:bodyPr>
              <a:lstStyle/>
              <a:p>
                <a:pPr indent="0" lvl="0" marL="0" rtl="0" algn="ctr">
                  <a:spcBef>
                    <a:spcPts val="0"/>
                  </a:spcBef>
                  <a:spcAft>
                    <a:spcPts val="0"/>
                  </a:spcAft>
                  <a:buNone/>
                </a:pPr>
                <a:r>
                  <a:t/>
                </a:r>
                <a:endParaRPr sz="1278">
                  <a:latin typeface="Lato"/>
                  <a:ea typeface="Lato"/>
                  <a:cs typeface="Lato"/>
                  <a:sym typeface="Lato"/>
                </a:endParaRPr>
              </a:p>
            </p:txBody>
          </p:sp>
          <p:sp>
            <p:nvSpPr>
              <p:cNvPr id="130" name="Google Shape;130;p18"/>
              <p:cNvSpPr txBox="1"/>
              <p:nvPr/>
            </p:nvSpPr>
            <p:spPr>
              <a:xfrm>
                <a:off x="2724488" y="2372150"/>
                <a:ext cx="646800" cy="121800"/>
              </a:xfrm>
              <a:prstGeom prst="rect">
                <a:avLst/>
              </a:prstGeom>
              <a:noFill/>
              <a:ln>
                <a:noFill/>
              </a:ln>
            </p:spPr>
            <p:txBody>
              <a:bodyPr anchorCtr="0" anchor="ctr" bIns="83475" lIns="83475" spcFirstLastPara="1" rIns="83475" wrap="square" tIns="83475">
                <a:noAutofit/>
              </a:bodyPr>
              <a:lstStyle/>
              <a:p>
                <a:pPr indent="0" lvl="0" marL="0" rtl="0" algn="l">
                  <a:spcBef>
                    <a:spcPts val="0"/>
                  </a:spcBef>
                  <a:spcAft>
                    <a:spcPts val="0"/>
                  </a:spcAft>
                  <a:buNone/>
                </a:pPr>
                <a:r>
                  <a:rPr lang="en" sz="1278">
                    <a:latin typeface="Lato"/>
                    <a:ea typeface="Lato"/>
                    <a:cs typeface="Lato"/>
                    <a:sym typeface="Lato"/>
                  </a:rPr>
                  <a:t>Trans.</a:t>
                </a:r>
                <a:endParaRPr sz="1278">
                  <a:latin typeface="Lato"/>
                  <a:ea typeface="Lato"/>
                  <a:cs typeface="Lato"/>
                  <a:sym typeface="Lato"/>
                </a:endParaRPr>
              </a:p>
            </p:txBody>
          </p:sp>
        </p:grpSp>
        <p:sp>
          <p:nvSpPr>
            <p:cNvPr id="131" name="Google Shape;131;p18"/>
            <p:cNvSpPr/>
            <p:nvPr/>
          </p:nvSpPr>
          <p:spPr>
            <a:xfrm>
              <a:off x="4826537" y="3615605"/>
              <a:ext cx="646800" cy="169500"/>
            </a:xfrm>
            <a:prstGeom prst="rect">
              <a:avLst/>
            </a:prstGeom>
            <a:solidFill>
              <a:srgbClr val="EAD1DC"/>
            </a:solidFill>
            <a:ln cap="flat" cmpd="sng" w="9525">
              <a:solidFill>
                <a:srgbClr val="5E696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Trans</a:t>
              </a:r>
              <a:endParaRPr>
                <a:latin typeface="Lato"/>
                <a:ea typeface="Lato"/>
                <a:cs typeface="Lato"/>
                <a:sym typeface="Lato"/>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35" name="Shape 135"/>
        <p:cNvGrpSpPr/>
        <p:nvPr/>
      </p:nvGrpSpPr>
      <p:grpSpPr>
        <a:xfrm>
          <a:off x="0" y="0"/>
          <a:ext cx="0" cy="0"/>
          <a:chOff x="0" y="0"/>
          <a:chExt cx="0" cy="0"/>
        </a:xfrm>
      </p:grpSpPr>
      <p:sp>
        <p:nvSpPr>
          <p:cNvPr id="136" name="Google Shape;136;p19"/>
          <p:cNvSpPr txBox="1"/>
          <p:nvPr>
            <p:ph type="title"/>
          </p:nvPr>
        </p:nvSpPr>
        <p:spPr>
          <a:xfrm>
            <a:off x="754719" y="393750"/>
            <a:ext cx="7038900" cy="685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Testbench Flow</a:t>
            </a:r>
            <a:endParaRPr b="1"/>
          </a:p>
        </p:txBody>
      </p:sp>
      <p:grpSp>
        <p:nvGrpSpPr>
          <p:cNvPr id="137" name="Google Shape;137;p19"/>
          <p:cNvGrpSpPr/>
          <p:nvPr/>
        </p:nvGrpSpPr>
        <p:grpSpPr>
          <a:xfrm>
            <a:off x="714305" y="1235027"/>
            <a:ext cx="8236800" cy="3668250"/>
            <a:chOff x="559225" y="1157486"/>
            <a:chExt cx="8236800" cy="3668250"/>
          </a:xfrm>
        </p:grpSpPr>
        <p:sp>
          <p:nvSpPr>
            <p:cNvPr id="138" name="Google Shape;138;p19"/>
            <p:cNvSpPr/>
            <p:nvPr/>
          </p:nvSpPr>
          <p:spPr>
            <a:xfrm>
              <a:off x="559225" y="1157500"/>
              <a:ext cx="2110200" cy="1040100"/>
            </a:xfrm>
            <a:prstGeom prst="roundRect">
              <a:avLst>
                <a:gd fmla="val 16667" name="adj"/>
              </a:avLst>
            </a:prstGeom>
            <a:solidFill>
              <a:srgbClr val="D0E0E3"/>
            </a:solidFill>
            <a:ln cap="flat" cmpd="sng" w="9525">
              <a:solidFill>
                <a:srgbClr val="000000"/>
              </a:solidFill>
              <a:prstDash val="solid"/>
              <a:round/>
              <a:headEnd len="sm" w="sm" type="none"/>
              <a:tailEnd len="sm" w="sm" type="none"/>
            </a:ln>
            <a:effectLst>
              <a:outerShdw blurRad="71438"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Test case : Tells Generator which operation to perform </a:t>
              </a:r>
              <a:endParaRPr>
                <a:latin typeface="Lato"/>
                <a:ea typeface="Lato"/>
                <a:cs typeface="Lato"/>
                <a:sym typeface="Lato"/>
              </a:endParaRPr>
            </a:p>
          </p:txBody>
        </p:sp>
        <p:sp>
          <p:nvSpPr>
            <p:cNvPr id="139" name="Google Shape;139;p19"/>
            <p:cNvSpPr/>
            <p:nvPr/>
          </p:nvSpPr>
          <p:spPr>
            <a:xfrm>
              <a:off x="3147328" y="1157500"/>
              <a:ext cx="2110200" cy="1040100"/>
            </a:xfrm>
            <a:prstGeom prst="roundRect">
              <a:avLst>
                <a:gd fmla="val 16667" name="adj"/>
              </a:avLst>
            </a:prstGeom>
            <a:solidFill>
              <a:srgbClr val="C9DAF8"/>
            </a:solidFill>
            <a:ln cap="flat" cmpd="sng" w="9525">
              <a:solidFill>
                <a:srgbClr val="000000"/>
              </a:solidFill>
              <a:prstDash val="solid"/>
              <a:round/>
              <a:headEnd len="sm" w="sm" type="none"/>
              <a:tailEnd len="sm" w="sm" type="none"/>
            </a:ln>
            <a:effectLst>
              <a:outerShdw blurRad="71438"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Generator : Input stimulus is generated using randomization and sent to Driver</a:t>
              </a:r>
              <a:endParaRPr>
                <a:latin typeface="Lato"/>
                <a:ea typeface="Lato"/>
                <a:cs typeface="Lato"/>
                <a:sym typeface="Lato"/>
              </a:endParaRPr>
            </a:p>
          </p:txBody>
        </p:sp>
        <p:sp>
          <p:nvSpPr>
            <p:cNvPr id="140" name="Google Shape;140;p19"/>
            <p:cNvSpPr/>
            <p:nvPr/>
          </p:nvSpPr>
          <p:spPr>
            <a:xfrm>
              <a:off x="5659225" y="1157486"/>
              <a:ext cx="2110200" cy="1040100"/>
            </a:xfrm>
            <a:prstGeom prst="roundRect">
              <a:avLst>
                <a:gd fmla="val 16667" name="adj"/>
              </a:avLst>
            </a:prstGeom>
            <a:solidFill>
              <a:srgbClr val="D9D2E9"/>
            </a:solidFill>
            <a:ln cap="flat" cmpd="sng" w="9525">
              <a:solidFill>
                <a:srgbClr val="000000"/>
              </a:solidFill>
              <a:prstDash val="solid"/>
              <a:round/>
              <a:headEnd len="sm" w="sm" type="none"/>
              <a:tailEnd len="sm" w="sm" type="none"/>
            </a:ln>
            <a:effectLst>
              <a:outerShdw blurRad="71438"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Driver : Generated input stimulus is received and sent to interface</a:t>
              </a:r>
              <a:endParaRPr>
                <a:latin typeface="Lato"/>
                <a:ea typeface="Lato"/>
                <a:cs typeface="Lato"/>
                <a:sym typeface="Lato"/>
              </a:endParaRPr>
            </a:p>
          </p:txBody>
        </p:sp>
        <p:sp>
          <p:nvSpPr>
            <p:cNvPr id="141" name="Google Shape;141;p19"/>
            <p:cNvSpPr/>
            <p:nvPr/>
          </p:nvSpPr>
          <p:spPr>
            <a:xfrm>
              <a:off x="5714575" y="3585400"/>
              <a:ext cx="2110200" cy="1040100"/>
            </a:xfrm>
            <a:prstGeom prst="roundRect">
              <a:avLst>
                <a:gd fmla="val 16667" name="adj"/>
              </a:avLst>
            </a:prstGeom>
            <a:solidFill>
              <a:srgbClr val="D9EAD3"/>
            </a:solidFill>
            <a:ln cap="flat" cmpd="sng" w="9525">
              <a:solidFill>
                <a:srgbClr val="000000"/>
              </a:solidFill>
              <a:prstDash val="solid"/>
              <a:round/>
              <a:headEnd len="sm" w="sm" type="none"/>
              <a:tailEnd len="sm" w="sm" type="none"/>
            </a:ln>
            <a:effectLst>
              <a:outerShdw blurRad="71438"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Monitor : signals received from interface and sent to scoreboard and coverage</a:t>
              </a:r>
              <a:endParaRPr>
                <a:latin typeface="Lato"/>
                <a:ea typeface="Lato"/>
                <a:cs typeface="Lato"/>
                <a:sym typeface="Lato"/>
              </a:endParaRPr>
            </a:p>
          </p:txBody>
        </p:sp>
        <p:sp>
          <p:nvSpPr>
            <p:cNvPr id="142" name="Google Shape;142;p19"/>
            <p:cNvSpPr/>
            <p:nvPr/>
          </p:nvSpPr>
          <p:spPr>
            <a:xfrm>
              <a:off x="2766300" y="2490236"/>
              <a:ext cx="2110200" cy="1040100"/>
            </a:xfrm>
            <a:prstGeom prst="roundRect">
              <a:avLst>
                <a:gd fmla="val 16667" name="adj"/>
              </a:avLst>
            </a:prstGeom>
            <a:solidFill>
              <a:srgbClr val="F4CCCC"/>
            </a:solidFill>
            <a:ln cap="flat" cmpd="sng" w="9525">
              <a:solidFill>
                <a:srgbClr val="000000"/>
              </a:solidFill>
              <a:prstDash val="solid"/>
              <a:round/>
              <a:headEnd len="sm" w="sm" type="none"/>
              <a:tailEnd len="sm" w="sm" type="none"/>
            </a:ln>
            <a:effectLst>
              <a:outerShdw blurRad="71438"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Scoreboard : Receive signal from monitor and compares with expected values </a:t>
              </a:r>
              <a:endParaRPr>
                <a:latin typeface="Lato"/>
                <a:ea typeface="Lato"/>
                <a:cs typeface="Lato"/>
                <a:sym typeface="Lato"/>
              </a:endParaRPr>
            </a:p>
          </p:txBody>
        </p:sp>
        <p:sp>
          <p:nvSpPr>
            <p:cNvPr id="143" name="Google Shape;143;p19"/>
            <p:cNvSpPr/>
            <p:nvPr/>
          </p:nvSpPr>
          <p:spPr>
            <a:xfrm>
              <a:off x="2768975" y="3785636"/>
              <a:ext cx="2110200" cy="1040100"/>
            </a:xfrm>
            <a:prstGeom prst="roundRect">
              <a:avLst>
                <a:gd fmla="val 16667" name="adj"/>
              </a:avLst>
            </a:prstGeom>
            <a:solidFill>
              <a:srgbClr val="EAD1DC"/>
            </a:solidFill>
            <a:ln cap="flat" cmpd="sng" w="9525">
              <a:solidFill>
                <a:srgbClr val="000000"/>
              </a:solidFill>
              <a:prstDash val="solid"/>
              <a:round/>
              <a:headEnd len="sm" w="sm" type="none"/>
              <a:tailEnd len="sm" w="sm" type="none"/>
            </a:ln>
            <a:effectLst>
              <a:outerShdw blurRad="71438"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Coverage : Receive signals in form of class from Monitor and covergroup is sampled </a:t>
              </a:r>
              <a:endParaRPr>
                <a:latin typeface="Lato"/>
                <a:ea typeface="Lato"/>
                <a:cs typeface="Lato"/>
                <a:sym typeface="Lato"/>
              </a:endParaRPr>
            </a:p>
          </p:txBody>
        </p:sp>
        <p:cxnSp>
          <p:nvCxnSpPr>
            <p:cNvPr id="144" name="Google Shape;144;p19"/>
            <p:cNvCxnSpPr/>
            <p:nvPr/>
          </p:nvCxnSpPr>
          <p:spPr>
            <a:xfrm flipH="1" rot="10800000">
              <a:off x="2666128" y="1677550"/>
              <a:ext cx="481200" cy="900"/>
            </a:xfrm>
            <a:prstGeom prst="straightConnector1">
              <a:avLst/>
            </a:prstGeom>
            <a:noFill/>
            <a:ln cap="flat" cmpd="sng" w="19050">
              <a:solidFill>
                <a:srgbClr val="000000"/>
              </a:solidFill>
              <a:prstDash val="solid"/>
              <a:round/>
              <a:headEnd len="med" w="med" type="none"/>
              <a:tailEnd len="med" w="med" type="stealth"/>
            </a:ln>
          </p:spPr>
        </p:cxnSp>
        <p:cxnSp>
          <p:nvCxnSpPr>
            <p:cNvPr id="145" name="Google Shape;145;p19"/>
            <p:cNvCxnSpPr/>
            <p:nvPr/>
          </p:nvCxnSpPr>
          <p:spPr>
            <a:xfrm>
              <a:off x="5264775" y="1677550"/>
              <a:ext cx="436200" cy="0"/>
            </a:xfrm>
            <a:prstGeom prst="straightConnector1">
              <a:avLst/>
            </a:prstGeom>
            <a:noFill/>
            <a:ln cap="flat" cmpd="sng" w="19050">
              <a:solidFill>
                <a:srgbClr val="000000"/>
              </a:solidFill>
              <a:prstDash val="solid"/>
              <a:round/>
              <a:headEnd len="med" w="med" type="none"/>
              <a:tailEnd len="med" w="med" type="stealth"/>
            </a:ln>
          </p:spPr>
        </p:cxnSp>
        <p:sp>
          <p:nvSpPr>
            <p:cNvPr id="146" name="Google Shape;146;p19"/>
            <p:cNvSpPr/>
            <p:nvPr/>
          </p:nvSpPr>
          <p:spPr>
            <a:xfrm>
              <a:off x="7769425" y="2620875"/>
              <a:ext cx="1026600" cy="560400"/>
            </a:xfrm>
            <a:prstGeom prst="roundRect">
              <a:avLst>
                <a:gd fmla="val 16667" name="adj"/>
              </a:avLst>
            </a:prstGeom>
            <a:solidFill>
              <a:srgbClr val="BFC7CA"/>
            </a:solidFill>
            <a:ln cap="flat" cmpd="sng" w="9525">
              <a:solidFill>
                <a:srgbClr val="000000"/>
              </a:solidFill>
              <a:prstDash val="solid"/>
              <a:round/>
              <a:headEnd len="sm" w="sm" type="none"/>
              <a:tailEnd len="sm" w="sm" type="none"/>
            </a:ln>
            <a:effectLst>
              <a:outerShdw blurRad="71438"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Interface</a:t>
              </a:r>
              <a:endParaRPr>
                <a:latin typeface="Lato"/>
                <a:ea typeface="Lato"/>
                <a:cs typeface="Lato"/>
                <a:sym typeface="Lato"/>
              </a:endParaRPr>
            </a:p>
          </p:txBody>
        </p:sp>
        <p:cxnSp>
          <p:nvCxnSpPr>
            <p:cNvPr id="147" name="Google Shape;147;p19"/>
            <p:cNvCxnSpPr/>
            <p:nvPr/>
          </p:nvCxnSpPr>
          <p:spPr>
            <a:xfrm>
              <a:off x="7646050" y="2222700"/>
              <a:ext cx="307200" cy="333600"/>
            </a:xfrm>
            <a:prstGeom prst="straightConnector1">
              <a:avLst/>
            </a:prstGeom>
            <a:noFill/>
            <a:ln cap="flat" cmpd="sng" w="19050">
              <a:solidFill>
                <a:srgbClr val="000000"/>
              </a:solidFill>
              <a:prstDash val="solid"/>
              <a:round/>
              <a:headEnd len="med" w="med" type="none"/>
              <a:tailEnd len="med" w="med" type="stealth"/>
            </a:ln>
          </p:spPr>
        </p:cxnSp>
        <p:cxnSp>
          <p:nvCxnSpPr>
            <p:cNvPr id="148" name="Google Shape;148;p19"/>
            <p:cNvCxnSpPr/>
            <p:nvPr/>
          </p:nvCxnSpPr>
          <p:spPr>
            <a:xfrm flipH="1">
              <a:off x="7632925" y="3214550"/>
              <a:ext cx="294000" cy="301500"/>
            </a:xfrm>
            <a:prstGeom prst="straightConnector1">
              <a:avLst/>
            </a:prstGeom>
            <a:noFill/>
            <a:ln cap="flat" cmpd="sng" w="19050">
              <a:solidFill>
                <a:srgbClr val="000000"/>
              </a:solidFill>
              <a:prstDash val="solid"/>
              <a:round/>
              <a:headEnd len="med" w="med" type="none"/>
              <a:tailEnd len="med" w="med" type="stealth"/>
            </a:ln>
          </p:spPr>
        </p:cxnSp>
        <p:cxnSp>
          <p:nvCxnSpPr>
            <p:cNvPr id="149" name="Google Shape;149;p19"/>
            <p:cNvCxnSpPr/>
            <p:nvPr/>
          </p:nvCxnSpPr>
          <p:spPr>
            <a:xfrm rot="10800000">
              <a:off x="4896500" y="3336025"/>
              <a:ext cx="801000" cy="352500"/>
            </a:xfrm>
            <a:prstGeom prst="straightConnector1">
              <a:avLst/>
            </a:prstGeom>
            <a:noFill/>
            <a:ln cap="flat" cmpd="sng" w="19050">
              <a:solidFill>
                <a:srgbClr val="000000"/>
              </a:solidFill>
              <a:prstDash val="solid"/>
              <a:round/>
              <a:headEnd len="med" w="med" type="none"/>
              <a:tailEnd len="med" w="med" type="stealth"/>
            </a:ln>
          </p:spPr>
        </p:cxnSp>
        <p:cxnSp>
          <p:nvCxnSpPr>
            <p:cNvPr id="150" name="Google Shape;150;p19"/>
            <p:cNvCxnSpPr>
              <a:endCxn id="143" idx="3"/>
            </p:cNvCxnSpPr>
            <p:nvPr/>
          </p:nvCxnSpPr>
          <p:spPr>
            <a:xfrm flipH="1">
              <a:off x="4879175" y="3907886"/>
              <a:ext cx="809700" cy="397800"/>
            </a:xfrm>
            <a:prstGeom prst="straightConnector1">
              <a:avLst/>
            </a:prstGeom>
            <a:noFill/>
            <a:ln cap="flat" cmpd="sng" w="19050">
              <a:solidFill>
                <a:srgbClr val="000000"/>
              </a:solidFill>
              <a:prstDash val="solid"/>
              <a:round/>
              <a:headEnd len="med" w="med" type="none"/>
              <a:tailEnd len="med" w="med" type="stealth"/>
            </a:ln>
          </p:spPr>
        </p:cxn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Tb_top</a:t>
            </a:r>
            <a:endParaRPr/>
          </a:p>
        </p:txBody>
      </p:sp>
      <p:pic>
        <p:nvPicPr>
          <p:cNvPr id="156" name="Google Shape;156;p20"/>
          <p:cNvPicPr preferRelativeResize="0"/>
          <p:nvPr/>
        </p:nvPicPr>
        <p:blipFill>
          <a:blip r:embed="rId3">
            <a:alphaModFix/>
          </a:blip>
          <a:stretch>
            <a:fillRect/>
          </a:stretch>
        </p:blipFill>
        <p:spPr>
          <a:xfrm>
            <a:off x="3040396" y="2666547"/>
            <a:ext cx="2704374" cy="2220484"/>
          </a:xfrm>
          <a:prstGeom prst="rect">
            <a:avLst/>
          </a:prstGeom>
          <a:noFill/>
          <a:ln>
            <a:noFill/>
          </a:ln>
          <a:effectLst>
            <a:outerShdw blurRad="57150" rotWithShape="0" algn="bl" dir="5400000" dist="19050">
              <a:srgbClr val="000000">
                <a:alpha val="50000"/>
              </a:srgbClr>
            </a:outerShdw>
          </a:effectLst>
        </p:spPr>
      </p:pic>
      <p:pic>
        <p:nvPicPr>
          <p:cNvPr id="157" name="Google Shape;157;p20"/>
          <p:cNvPicPr preferRelativeResize="0"/>
          <p:nvPr/>
        </p:nvPicPr>
        <p:blipFill>
          <a:blip r:embed="rId4">
            <a:alphaModFix/>
          </a:blip>
          <a:stretch>
            <a:fillRect/>
          </a:stretch>
        </p:blipFill>
        <p:spPr>
          <a:xfrm>
            <a:off x="5870101" y="2666547"/>
            <a:ext cx="2856632" cy="2220475"/>
          </a:xfrm>
          <a:prstGeom prst="rect">
            <a:avLst/>
          </a:prstGeom>
          <a:noFill/>
          <a:ln>
            <a:noFill/>
          </a:ln>
          <a:effectLst>
            <a:outerShdw blurRad="57150" rotWithShape="0" algn="bl" dir="5400000" dist="19050">
              <a:srgbClr val="000000">
                <a:alpha val="50000"/>
              </a:srgbClr>
            </a:outerShdw>
          </a:effectLst>
        </p:spPr>
      </p:pic>
      <p:pic>
        <p:nvPicPr>
          <p:cNvPr id="158" name="Google Shape;158;p20"/>
          <p:cNvPicPr preferRelativeResize="0"/>
          <p:nvPr/>
        </p:nvPicPr>
        <p:blipFill>
          <a:blip r:embed="rId5">
            <a:alphaModFix/>
          </a:blip>
          <a:stretch>
            <a:fillRect/>
          </a:stretch>
        </p:blipFill>
        <p:spPr>
          <a:xfrm>
            <a:off x="465308" y="1370906"/>
            <a:ext cx="2449750" cy="3562634"/>
          </a:xfrm>
          <a:prstGeom prst="rect">
            <a:avLst/>
          </a:prstGeom>
          <a:noFill/>
          <a:ln>
            <a:noFill/>
          </a:ln>
          <a:effectLst>
            <a:outerShdw blurRad="57150" rotWithShape="0" algn="bl" dir="5400000" dist="19050">
              <a:srgbClr val="000000">
                <a:alpha val="50000"/>
              </a:srgbClr>
            </a:outerShdw>
          </a:effectLst>
        </p:spPr>
      </p:pic>
      <p:sp>
        <p:nvSpPr>
          <p:cNvPr id="159" name="Google Shape;159;p20"/>
          <p:cNvSpPr txBox="1"/>
          <p:nvPr/>
        </p:nvSpPr>
        <p:spPr>
          <a:xfrm>
            <a:off x="2996058" y="1405522"/>
            <a:ext cx="5558400" cy="8517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SzPts val="1500"/>
              <a:buFont typeface="Lato"/>
              <a:buChar char="●"/>
            </a:pPr>
            <a:r>
              <a:rPr lang="en" sz="1500">
                <a:highlight>
                  <a:srgbClr val="F2F2F2"/>
                </a:highlight>
                <a:latin typeface="Lato"/>
                <a:ea typeface="Lato"/>
                <a:cs typeface="Lato"/>
                <a:sym typeface="Lato"/>
              </a:rPr>
              <a:t>This is the topmost file, which connects the DUT and TestBench. It consists of DUT, Test and interface instances, the interface connects the DUT and TestBench</a:t>
            </a:r>
            <a:endParaRPr sz="1500">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Base Test</a:t>
            </a:r>
            <a:endParaRPr/>
          </a:p>
        </p:txBody>
      </p:sp>
      <p:pic>
        <p:nvPicPr>
          <p:cNvPr id="165" name="Google Shape;165;p21"/>
          <p:cNvPicPr preferRelativeResize="0"/>
          <p:nvPr/>
        </p:nvPicPr>
        <p:blipFill>
          <a:blip r:embed="rId3">
            <a:alphaModFix/>
          </a:blip>
          <a:stretch>
            <a:fillRect/>
          </a:stretch>
        </p:blipFill>
        <p:spPr>
          <a:xfrm>
            <a:off x="446773" y="2467996"/>
            <a:ext cx="4752975" cy="2533650"/>
          </a:xfrm>
          <a:prstGeom prst="rect">
            <a:avLst/>
          </a:prstGeom>
          <a:noFill/>
          <a:ln>
            <a:noFill/>
          </a:ln>
          <a:effectLst>
            <a:outerShdw blurRad="57150" rotWithShape="0" algn="bl" dir="5400000" dist="19050">
              <a:srgbClr val="000000">
                <a:alpha val="50000"/>
              </a:srgbClr>
            </a:outerShdw>
          </a:effectLst>
        </p:spPr>
      </p:pic>
      <p:pic>
        <p:nvPicPr>
          <p:cNvPr id="166" name="Google Shape;166;p21"/>
          <p:cNvPicPr preferRelativeResize="0"/>
          <p:nvPr/>
        </p:nvPicPr>
        <p:blipFill>
          <a:blip r:embed="rId4">
            <a:alphaModFix/>
          </a:blip>
          <a:stretch>
            <a:fillRect/>
          </a:stretch>
        </p:blipFill>
        <p:spPr>
          <a:xfrm>
            <a:off x="5368225" y="2554909"/>
            <a:ext cx="3294625" cy="2359825"/>
          </a:xfrm>
          <a:prstGeom prst="rect">
            <a:avLst/>
          </a:prstGeom>
          <a:noFill/>
          <a:ln>
            <a:noFill/>
          </a:ln>
          <a:effectLst>
            <a:outerShdw blurRad="57150" rotWithShape="0" algn="bl" dir="5400000" dist="19050">
              <a:srgbClr val="000000">
                <a:alpha val="50000"/>
              </a:srgbClr>
            </a:outerShdw>
          </a:effectLst>
        </p:spPr>
      </p:pic>
      <p:sp>
        <p:nvSpPr>
          <p:cNvPr id="167" name="Google Shape;167;p21"/>
          <p:cNvSpPr txBox="1"/>
          <p:nvPr/>
        </p:nvSpPr>
        <p:spPr>
          <a:xfrm>
            <a:off x="606525" y="1461121"/>
            <a:ext cx="7798500" cy="8706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SzPts val="1600"/>
              <a:buFont typeface="Lato"/>
              <a:buChar char="●"/>
            </a:pPr>
            <a:r>
              <a:rPr lang="en" sz="1600">
                <a:latin typeface="Lato"/>
                <a:ea typeface="Lato"/>
                <a:cs typeface="Lato"/>
                <a:sym typeface="Lato"/>
              </a:rPr>
              <a:t>Base Test instantiates object of environment class, calls run tasks from different classes (driver, monitor, scoreboard and coverage) to initiate the test. </a:t>
            </a:r>
            <a:endParaRPr sz="1600">
              <a:latin typeface="Lato"/>
              <a:ea typeface="Lato"/>
              <a:cs typeface="Lato"/>
              <a:sym typeface="Lato"/>
            </a:endParaRPr>
          </a:p>
          <a:p>
            <a:pPr indent="-330200" lvl="0" marL="457200" rtl="0" algn="l">
              <a:spcBef>
                <a:spcPts val="0"/>
              </a:spcBef>
              <a:spcAft>
                <a:spcPts val="0"/>
              </a:spcAft>
              <a:buSzPts val="1600"/>
              <a:buFont typeface="Lato"/>
              <a:buChar char="●"/>
            </a:pPr>
            <a:r>
              <a:rPr lang="en" sz="1600">
                <a:latin typeface="Lato"/>
                <a:ea typeface="Lato"/>
                <a:cs typeface="Lato"/>
                <a:sym typeface="Lato"/>
              </a:rPr>
              <a:t>Different test cases are extended  from this class.</a:t>
            </a:r>
            <a:endParaRPr sz="1600">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2"/>
          <p:cNvSpPr txBox="1"/>
          <p:nvPr>
            <p:ph type="title"/>
          </p:nvPr>
        </p:nvSpPr>
        <p:spPr>
          <a:xfrm>
            <a:off x="311725" y="500925"/>
            <a:ext cx="8520600" cy="62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Environment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73" name="Google Shape;173;p22"/>
          <p:cNvPicPr preferRelativeResize="0"/>
          <p:nvPr/>
        </p:nvPicPr>
        <p:blipFill>
          <a:blip r:embed="rId3">
            <a:alphaModFix/>
          </a:blip>
          <a:stretch>
            <a:fillRect/>
          </a:stretch>
        </p:blipFill>
        <p:spPr>
          <a:xfrm>
            <a:off x="2317825" y="1971121"/>
            <a:ext cx="4228350" cy="3109100"/>
          </a:xfrm>
          <a:prstGeom prst="rect">
            <a:avLst/>
          </a:prstGeom>
          <a:noFill/>
          <a:ln>
            <a:noFill/>
          </a:ln>
          <a:effectLst>
            <a:outerShdw blurRad="57150" rotWithShape="0" algn="bl" dir="5400000" dist="19050">
              <a:srgbClr val="000000">
                <a:alpha val="50000"/>
              </a:srgbClr>
            </a:outerShdw>
          </a:effectLst>
        </p:spPr>
      </p:pic>
      <p:sp>
        <p:nvSpPr>
          <p:cNvPr id="174" name="Google Shape;174;p22"/>
          <p:cNvSpPr txBox="1"/>
          <p:nvPr/>
        </p:nvSpPr>
        <p:spPr>
          <a:xfrm>
            <a:off x="595250" y="1317221"/>
            <a:ext cx="7908300" cy="6249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SzPts val="1500"/>
              <a:buFont typeface="Lato"/>
              <a:buChar char="●"/>
            </a:pPr>
            <a:r>
              <a:rPr lang="en" sz="1500">
                <a:latin typeface="Lato"/>
                <a:ea typeface="Lato"/>
                <a:cs typeface="Lato"/>
                <a:sym typeface="Lato"/>
              </a:rPr>
              <a:t>It it a container class which contains two other classes : agent and scoreboard.</a:t>
            </a:r>
            <a:endParaRPr sz="1500">
              <a:latin typeface="Lato"/>
              <a:ea typeface="Lato"/>
              <a:cs typeface="Lato"/>
              <a:sym typeface="Lato"/>
            </a:endParaRPr>
          </a:p>
          <a:p>
            <a:pPr indent="-323850" lvl="0" marL="457200" rtl="0" algn="l">
              <a:spcBef>
                <a:spcPts val="0"/>
              </a:spcBef>
              <a:spcAft>
                <a:spcPts val="0"/>
              </a:spcAft>
              <a:buSzPts val="1500"/>
              <a:buFont typeface="Lato"/>
              <a:buChar char="●"/>
            </a:pPr>
            <a:r>
              <a:rPr lang="en" sz="1500">
                <a:latin typeface="Lato"/>
                <a:ea typeface="Lato"/>
                <a:cs typeface="Lato"/>
                <a:sym typeface="Lato"/>
              </a:rPr>
              <a:t>The connection between scoreboard and monitor is done in this class.</a:t>
            </a:r>
            <a:endParaRPr sz="1500">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Agent</a:t>
            </a:r>
            <a:endParaRPr/>
          </a:p>
        </p:txBody>
      </p:sp>
      <p:pic>
        <p:nvPicPr>
          <p:cNvPr id="180" name="Google Shape;180;p23"/>
          <p:cNvPicPr preferRelativeResize="0"/>
          <p:nvPr/>
        </p:nvPicPr>
        <p:blipFill>
          <a:blip r:embed="rId3">
            <a:alphaModFix/>
          </a:blip>
          <a:stretch>
            <a:fillRect/>
          </a:stretch>
        </p:blipFill>
        <p:spPr>
          <a:xfrm>
            <a:off x="668582" y="1836737"/>
            <a:ext cx="4458430" cy="3234700"/>
          </a:xfrm>
          <a:prstGeom prst="rect">
            <a:avLst/>
          </a:prstGeom>
          <a:noFill/>
          <a:ln>
            <a:noFill/>
          </a:ln>
          <a:effectLst>
            <a:outerShdw blurRad="57150" rotWithShape="0" algn="bl" dir="5400000" dist="19050">
              <a:srgbClr val="000000">
                <a:alpha val="50000"/>
              </a:srgbClr>
            </a:outerShdw>
          </a:effectLst>
        </p:spPr>
      </p:pic>
      <p:pic>
        <p:nvPicPr>
          <p:cNvPr id="181" name="Google Shape;181;p23"/>
          <p:cNvPicPr preferRelativeResize="0"/>
          <p:nvPr/>
        </p:nvPicPr>
        <p:blipFill>
          <a:blip r:embed="rId4">
            <a:alphaModFix/>
          </a:blip>
          <a:stretch>
            <a:fillRect/>
          </a:stretch>
        </p:blipFill>
        <p:spPr>
          <a:xfrm>
            <a:off x="5301261" y="2675112"/>
            <a:ext cx="3295650" cy="1733550"/>
          </a:xfrm>
          <a:prstGeom prst="rect">
            <a:avLst/>
          </a:prstGeom>
          <a:noFill/>
          <a:ln>
            <a:noFill/>
          </a:ln>
          <a:effectLst>
            <a:outerShdw blurRad="57150" rotWithShape="0" algn="bl" dir="5400000" dist="19050">
              <a:srgbClr val="000000">
                <a:alpha val="50000"/>
              </a:srgbClr>
            </a:outerShdw>
          </a:effectLst>
        </p:spPr>
      </p:pic>
      <p:sp>
        <p:nvSpPr>
          <p:cNvPr id="182" name="Google Shape;182;p23"/>
          <p:cNvSpPr txBox="1"/>
          <p:nvPr/>
        </p:nvSpPr>
        <p:spPr>
          <a:xfrm>
            <a:off x="543557" y="1305637"/>
            <a:ext cx="7742400" cy="3693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SzPts val="1600"/>
              <a:buFont typeface="Lato"/>
              <a:buChar char="●"/>
            </a:pPr>
            <a:r>
              <a:rPr lang="en" sz="1600">
                <a:latin typeface="Lato"/>
                <a:ea typeface="Lato"/>
                <a:cs typeface="Lato"/>
                <a:sym typeface="Lato"/>
              </a:rPr>
              <a:t>This class contains other classes (driver, monitor, coverage, generator)</a:t>
            </a:r>
            <a:endParaRPr sz="1600">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4"/>
          <p:cNvSpPr txBox="1"/>
          <p:nvPr>
            <p:ph type="title"/>
          </p:nvPr>
        </p:nvSpPr>
        <p:spPr>
          <a:xfrm>
            <a:off x="311725" y="500925"/>
            <a:ext cx="8520600" cy="62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Generator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88" name="Google Shape;188;p24"/>
          <p:cNvPicPr preferRelativeResize="0"/>
          <p:nvPr/>
        </p:nvPicPr>
        <p:blipFill>
          <a:blip r:embed="rId3">
            <a:alphaModFix/>
          </a:blip>
          <a:stretch>
            <a:fillRect/>
          </a:stretch>
        </p:blipFill>
        <p:spPr>
          <a:xfrm>
            <a:off x="2334424" y="1772909"/>
            <a:ext cx="4043689" cy="1383150"/>
          </a:xfrm>
          <a:prstGeom prst="rect">
            <a:avLst/>
          </a:prstGeom>
          <a:noFill/>
          <a:ln>
            <a:noFill/>
          </a:ln>
          <a:effectLst>
            <a:outerShdw blurRad="57150" rotWithShape="0" algn="bl" dir="5400000" dist="19050">
              <a:srgbClr val="000000">
                <a:alpha val="50000"/>
              </a:srgbClr>
            </a:outerShdw>
          </a:effectLst>
        </p:spPr>
      </p:pic>
      <p:pic>
        <p:nvPicPr>
          <p:cNvPr id="189" name="Google Shape;189;p24"/>
          <p:cNvPicPr preferRelativeResize="0"/>
          <p:nvPr/>
        </p:nvPicPr>
        <p:blipFill>
          <a:blip r:embed="rId4">
            <a:alphaModFix/>
          </a:blip>
          <a:stretch>
            <a:fillRect/>
          </a:stretch>
        </p:blipFill>
        <p:spPr>
          <a:xfrm>
            <a:off x="912277" y="3218244"/>
            <a:ext cx="2180500" cy="1236699"/>
          </a:xfrm>
          <a:prstGeom prst="rect">
            <a:avLst/>
          </a:prstGeom>
          <a:noFill/>
          <a:ln>
            <a:noFill/>
          </a:ln>
          <a:effectLst>
            <a:outerShdw blurRad="57150" rotWithShape="0" algn="bl" dir="5400000" dist="19050">
              <a:srgbClr val="000000">
                <a:alpha val="50000"/>
              </a:srgbClr>
            </a:outerShdw>
          </a:effectLst>
        </p:spPr>
      </p:pic>
      <p:pic>
        <p:nvPicPr>
          <p:cNvPr id="190" name="Google Shape;190;p24"/>
          <p:cNvPicPr preferRelativeResize="0"/>
          <p:nvPr/>
        </p:nvPicPr>
        <p:blipFill>
          <a:blip r:embed="rId5">
            <a:alphaModFix/>
          </a:blip>
          <a:stretch>
            <a:fillRect/>
          </a:stretch>
        </p:blipFill>
        <p:spPr>
          <a:xfrm>
            <a:off x="3157866" y="3221148"/>
            <a:ext cx="2522220" cy="1887593"/>
          </a:xfrm>
          <a:prstGeom prst="rect">
            <a:avLst/>
          </a:prstGeom>
          <a:noFill/>
          <a:ln>
            <a:noFill/>
          </a:ln>
          <a:effectLst>
            <a:outerShdw blurRad="57150" rotWithShape="0" algn="bl" dir="5400000" dist="19050">
              <a:srgbClr val="000000">
                <a:alpha val="50000"/>
              </a:srgbClr>
            </a:outerShdw>
          </a:effectLst>
        </p:spPr>
      </p:pic>
      <p:pic>
        <p:nvPicPr>
          <p:cNvPr id="191" name="Google Shape;191;p24"/>
          <p:cNvPicPr preferRelativeResize="0"/>
          <p:nvPr/>
        </p:nvPicPr>
        <p:blipFill rotWithShape="1">
          <a:blip r:embed="rId6">
            <a:alphaModFix/>
          </a:blip>
          <a:srcRect b="0" l="10321" r="0" t="0"/>
          <a:stretch/>
        </p:blipFill>
        <p:spPr>
          <a:xfrm>
            <a:off x="5745178" y="3217080"/>
            <a:ext cx="2334874" cy="1895729"/>
          </a:xfrm>
          <a:prstGeom prst="rect">
            <a:avLst/>
          </a:prstGeom>
          <a:noFill/>
          <a:ln>
            <a:noFill/>
          </a:ln>
          <a:effectLst>
            <a:outerShdw blurRad="57150" rotWithShape="0" algn="bl" dir="5400000" dist="19050">
              <a:srgbClr val="000000">
                <a:alpha val="50000"/>
              </a:srgbClr>
            </a:outerShdw>
          </a:effectLst>
        </p:spPr>
      </p:pic>
      <p:sp>
        <p:nvSpPr>
          <p:cNvPr id="192" name="Google Shape;192;p24"/>
          <p:cNvSpPr txBox="1"/>
          <p:nvPr/>
        </p:nvSpPr>
        <p:spPr>
          <a:xfrm>
            <a:off x="426877" y="1252834"/>
            <a:ext cx="8203800" cy="506700"/>
          </a:xfrm>
          <a:prstGeom prst="rect">
            <a:avLst/>
          </a:prstGeom>
          <a:noFill/>
          <a:ln>
            <a:noFill/>
          </a:ln>
        </p:spPr>
        <p:txBody>
          <a:bodyPr anchorCtr="0" anchor="ctr" bIns="91425" lIns="91425" spcFirstLastPara="1" rIns="91425" wrap="square" tIns="91425">
            <a:noAutofit/>
          </a:bodyPr>
          <a:lstStyle/>
          <a:p>
            <a:pPr indent="-323850" lvl="0" marL="457200" rtl="0" algn="l">
              <a:spcBef>
                <a:spcPts val="0"/>
              </a:spcBef>
              <a:spcAft>
                <a:spcPts val="0"/>
              </a:spcAft>
              <a:buSzPts val="1500"/>
              <a:buFont typeface="Lato"/>
              <a:buChar char="●"/>
            </a:pPr>
            <a:r>
              <a:rPr lang="en" sz="1500">
                <a:latin typeface="Lato"/>
                <a:ea typeface="Lato"/>
                <a:cs typeface="Lato"/>
                <a:sym typeface="Lato"/>
              </a:rPr>
              <a:t>Generates the stimulus (create and randomize the transaction class) and sends it to Driver</a:t>
            </a:r>
            <a:endParaRPr sz="1500">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5"/>
          <p:cNvSpPr txBox="1"/>
          <p:nvPr>
            <p:ph type="title"/>
          </p:nvPr>
        </p:nvSpPr>
        <p:spPr>
          <a:xfrm>
            <a:off x="311725" y="500925"/>
            <a:ext cx="8520600" cy="62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Generator(cont.)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98" name="Google Shape;198;p25"/>
          <p:cNvPicPr preferRelativeResize="0"/>
          <p:nvPr/>
        </p:nvPicPr>
        <p:blipFill>
          <a:blip r:embed="rId3">
            <a:alphaModFix/>
          </a:blip>
          <a:stretch>
            <a:fillRect/>
          </a:stretch>
        </p:blipFill>
        <p:spPr>
          <a:xfrm>
            <a:off x="352500" y="1762975"/>
            <a:ext cx="2817946" cy="2086700"/>
          </a:xfrm>
          <a:prstGeom prst="rect">
            <a:avLst/>
          </a:prstGeom>
          <a:noFill/>
          <a:ln>
            <a:noFill/>
          </a:ln>
          <a:effectLst>
            <a:outerShdw blurRad="57150" rotWithShape="0" algn="bl" dir="5400000" dist="19050">
              <a:srgbClr val="000000">
                <a:alpha val="50000"/>
              </a:srgbClr>
            </a:outerShdw>
          </a:effectLst>
        </p:spPr>
      </p:pic>
      <p:pic>
        <p:nvPicPr>
          <p:cNvPr id="199" name="Google Shape;199;p25"/>
          <p:cNvPicPr preferRelativeResize="0"/>
          <p:nvPr/>
        </p:nvPicPr>
        <p:blipFill>
          <a:blip r:embed="rId4">
            <a:alphaModFix/>
          </a:blip>
          <a:stretch>
            <a:fillRect/>
          </a:stretch>
        </p:blipFill>
        <p:spPr>
          <a:xfrm>
            <a:off x="3224758" y="1762975"/>
            <a:ext cx="2693100" cy="1801340"/>
          </a:xfrm>
          <a:prstGeom prst="rect">
            <a:avLst/>
          </a:prstGeom>
          <a:noFill/>
          <a:ln>
            <a:noFill/>
          </a:ln>
          <a:effectLst>
            <a:outerShdw blurRad="57150" rotWithShape="0" algn="bl" dir="5400000" dist="19050">
              <a:srgbClr val="000000">
                <a:alpha val="50000"/>
              </a:srgbClr>
            </a:outerShdw>
          </a:effectLst>
        </p:spPr>
      </p:pic>
      <p:pic>
        <p:nvPicPr>
          <p:cNvPr id="200" name="Google Shape;200;p25"/>
          <p:cNvPicPr preferRelativeResize="0"/>
          <p:nvPr/>
        </p:nvPicPr>
        <p:blipFill>
          <a:blip r:embed="rId5">
            <a:alphaModFix/>
          </a:blip>
          <a:stretch>
            <a:fillRect/>
          </a:stretch>
        </p:blipFill>
        <p:spPr>
          <a:xfrm>
            <a:off x="6035970" y="1762975"/>
            <a:ext cx="2657430" cy="197969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6"/>
          <p:cNvSpPr txBox="1"/>
          <p:nvPr>
            <p:ph type="title"/>
          </p:nvPr>
        </p:nvSpPr>
        <p:spPr>
          <a:xfrm>
            <a:off x="311725" y="500925"/>
            <a:ext cx="8520600" cy="62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Transaction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06" name="Google Shape;206;p26"/>
          <p:cNvSpPr txBox="1"/>
          <p:nvPr/>
        </p:nvSpPr>
        <p:spPr>
          <a:xfrm>
            <a:off x="603975" y="1255667"/>
            <a:ext cx="7943400" cy="10371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SzPts val="1500"/>
              <a:buFont typeface="Lato"/>
              <a:buChar char="●"/>
            </a:pPr>
            <a:r>
              <a:rPr lang="en" sz="1500">
                <a:latin typeface="Lato"/>
                <a:ea typeface="Lato"/>
                <a:cs typeface="Lato"/>
                <a:sym typeface="Lato"/>
              </a:rPr>
              <a:t>The transaction is a container which carries signal values,  flags (no of cycle in this case) and other test-related information (for example string test_name) in between different testbench components (Generator to driver, Monitor to Scoreboard, Monitor to Coverage).</a:t>
            </a:r>
            <a:endParaRPr sz="1500">
              <a:latin typeface="Lato"/>
              <a:ea typeface="Lato"/>
              <a:cs typeface="Lato"/>
              <a:sym typeface="Lato"/>
            </a:endParaRPr>
          </a:p>
        </p:txBody>
      </p:sp>
      <p:pic>
        <p:nvPicPr>
          <p:cNvPr id="207" name="Google Shape;207;p26"/>
          <p:cNvPicPr preferRelativeResize="0"/>
          <p:nvPr/>
        </p:nvPicPr>
        <p:blipFill>
          <a:blip r:embed="rId3">
            <a:alphaModFix/>
          </a:blip>
          <a:stretch>
            <a:fillRect/>
          </a:stretch>
        </p:blipFill>
        <p:spPr>
          <a:xfrm>
            <a:off x="2580161" y="2434542"/>
            <a:ext cx="4094978" cy="258717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Driver</a:t>
            </a:r>
            <a:endParaRPr b="1"/>
          </a:p>
        </p:txBody>
      </p:sp>
      <p:pic>
        <p:nvPicPr>
          <p:cNvPr id="213" name="Google Shape;213;p27"/>
          <p:cNvPicPr preferRelativeResize="0"/>
          <p:nvPr/>
        </p:nvPicPr>
        <p:blipFill>
          <a:blip r:embed="rId3">
            <a:alphaModFix/>
          </a:blip>
          <a:stretch>
            <a:fillRect/>
          </a:stretch>
        </p:blipFill>
        <p:spPr>
          <a:xfrm>
            <a:off x="495350" y="2618469"/>
            <a:ext cx="4142149" cy="1689575"/>
          </a:xfrm>
          <a:prstGeom prst="rect">
            <a:avLst/>
          </a:prstGeom>
          <a:noFill/>
          <a:ln>
            <a:noFill/>
          </a:ln>
          <a:effectLst>
            <a:outerShdw blurRad="57150" rotWithShape="0" algn="bl" dir="5400000" dist="19050">
              <a:srgbClr val="000000">
                <a:alpha val="50000"/>
              </a:srgbClr>
            </a:outerShdw>
          </a:effectLst>
        </p:spPr>
      </p:pic>
      <p:pic>
        <p:nvPicPr>
          <p:cNvPr id="214" name="Google Shape;214;p27"/>
          <p:cNvPicPr preferRelativeResize="0"/>
          <p:nvPr/>
        </p:nvPicPr>
        <p:blipFill>
          <a:blip r:embed="rId4">
            <a:alphaModFix/>
          </a:blip>
          <a:stretch>
            <a:fillRect/>
          </a:stretch>
        </p:blipFill>
        <p:spPr>
          <a:xfrm>
            <a:off x="4992625" y="2122069"/>
            <a:ext cx="3288000" cy="2848450"/>
          </a:xfrm>
          <a:prstGeom prst="rect">
            <a:avLst/>
          </a:prstGeom>
          <a:noFill/>
          <a:ln>
            <a:noFill/>
          </a:ln>
          <a:effectLst>
            <a:outerShdw blurRad="57150" rotWithShape="0" algn="bl" dir="5400000" dist="19050">
              <a:srgbClr val="000000">
                <a:alpha val="50000"/>
              </a:srgbClr>
            </a:outerShdw>
          </a:effectLst>
        </p:spPr>
      </p:pic>
      <p:sp>
        <p:nvSpPr>
          <p:cNvPr id="215" name="Google Shape;215;p27"/>
          <p:cNvSpPr txBox="1"/>
          <p:nvPr/>
        </p:nvSpPr>
        <p:spPr>
          <a:xfrm>
            <a:off x="464150" y="1347619"/>
            <a:ext cx="7943400" cy="6465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SzPts val="1600"/>
              <a:buFont typeface="Lato"/>
              <a:buChar char="●"/>
            </a:pPr>
            <a:r>
              <a:rPr lang="en" sz="1600">
                <a:latin typeface="Lato"/>
                <a:ea typeface="Lato"/>
                <a:cs typeface="Lato"/>
                <a:sym typeface="Lato"/>
              </a:rPr>
              <a:t>Receives the stimulus (transaction) from a generator and drives the packet level data inside the transaction into pin level to DUT via Interface.</a:t>
            </a:r>
            <a:endParaRPr sz="1600">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Interface</a:t>
            </a:r>
            <a:endParaRPr b="1"/>
          </a:p>
        </p:txBody>
      </p:sp>
      <p:sp>
        <p:nvSpPr>
          <p:cNvPr id="221" name="Google Shape;221;p28"/>
          <p:cNvSpPr txBox="1"/>
          <p:nvPr/>
        </p:nvSpPr>
        <p:spPr>
          <a:xfrm>
            <a:off x="352650" y="1615700"/>
            <a:ext cx="8438700" cy="997500"/>
          </a:xfrm>
          <a:prstGeom prst="rect">
            <a:avLst/>
          </a:prstGeom>
          <a:solidFill>
            <a:srgbClr val="F5F5F5"/>
          </a:solidFill>
          <a:ln cap="flat" cmpd="sng" w="9525">
            <a:solidFill>
              <a:srgbClr val="F5F5F5"/>
            </a:solidFill>
            <a:prstDash val="solid"/>
            <a:round/>
            <a:headEnd len="sm" w="sm" type="none"/>
            <a:tailEnd len="sm" w="sm" type="none"/>
          </a:ln>
        </p:spPr>
        <p:txBody>
          <a:bodyPr anchorCtr="0" anchor="t" bIns="91425" lIns="91425" spcFirstLastPara="1" rIns="91425" wrap="square" tIns="91425">
            <a:spAutoFit/>
          </a:bodyPr>
          <a:lstStyle/>
          <a:p>
            <a:pPr indent="-330200" lvl="0" marL="457200" marR="0" rtl="0" algn="l">
              <a:lnSpc>
                <a:spcPct val="115000"/>
              </a:lnSpc>
              <a:spcBef>
                <a:spcPts val="0"/>
              </a:spcBef>
              <a:spcAft>
                <a:spcPts val="0"/>
              </a:spcAft>
              <a:buClr>
                <a:srgbClr val="212529"/>
              </a:buClr>
              <a:buSzPts val="1600"/>
              <a:buFont typeface="Lato"/>
              <a:buChar char="●"/>
            </a:pPr>
            <a:r>
              <a:rPr lang="en" sz="1600">
                <a:solidFill>
                  <a:srgbClr val="212529"/>
                </a:solidFill>
                <a:highlight>
                  <a:srgbClr val="F5F5F5"/>
                </a:highlight>
                <a:latin typeface="Lato"/>
                <a:ea typeface="Lato"/>
                <a:cs typeface="Lato"/>
                <a:sym typeface="Lato"/>
              </a:rPr>
              <a:t>All signals are grouped together in the interface block, and it’s easier to reuse the signals by calling instances of interface.</a:t>
            </a:r>
            <a:endParaRPr sz="1600">
              <a:solidFill>
                <a:srgbClr val="212529"/>
              </a:solidFill>
              <a:highlight>
                <a:srgbClr val="F5F5F5"/>
              </a:highlight>
              <a:latin typeface="Lato"/>
              <a:ea typeface="Lato"/>
              <a:cs typeface="Lato"/>
              <a:sym typeface="Lato"/>
            </a:endParaRPr>
          </a:p>
          <a:p>
            <a:pPr indent="-330200" lvl="0" marL="457200" marR="0" rtl="0" algn="l">
              <a:lnSpc>
                <a:spcPct val="115000"/>
              </a:lnSpc>
              <a:spcBef>
                <a:spcPts val="0"/>
              </a:spcBef>
              <a:spcAft>
                <a:spcPts val="0"/>
              </a:spcAft>
              <a:buClr>
                <a:srgbClr val="212529"/>
              </a:buClr>
              <a:buSzPts val="1600"/>
              <a:buFont typeface="Lato"/>
              <a:buChar char="●"/>
            </a:pPr>
            <a:r>
              <a:rPr lang="en" sz="1600">
                <a:solidFill>
                  <a:srgbClr val="212529"/>
                </a:solidFill>
                <a:highlight>
                  <a:srgbClr val="F5F5F5"/>
                </a:highlight>
                <a:latin typeface="Lato"/>
                <a:ea typeface="Lato"/>
                <a:cs typeface="Lato"/>
                <a:sym typeface="Lato"/>
              </a:rPr>
              <a:t>The signals can be driven to DUT or vice versa via Interface.</a:t>
            </a:r>
            <a:endParaRPr sz="1600">
              <a:solidFill>
                <a:srgbClr val="212529"/>
              </a:solidFill>
              <a:highlight>
                <a:srgbClr val="F5F5F5"/>
              </a:highlight>
              <a:latin typeface="Lato"/>
              <a:ea typeface="Lato"/>
              <a:cs typeface="Lato"/>
              <a:sym typeface="Lato"/>
            </a:endParaRPr>
          </a:p>
        </p:txBody>
      </p:sp>
      <p:pic>
        <p:nvPicPr>
          <p:cNvPr id="222" name="Google Shape;222;p28"/>
          <p:cNvPicPr preferRelativeResize="0"/>
          <p:nvPr/>
        </p:nvPicPr>
        <p:blipFill>
          <a:blip r:embed="rId3">
            <a:alphaModFix/>
          </a:blip>
          <a:stretch>
            <a:fillRect/>
          </a:stretch>
        </p:blipFill>
        <p:spPr>
          <a:xfrm>
            <a:off x="2430575" y="2779200"/>
            <a:ext cx="4512600" cy="190053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Monitor</a:t>
            </a:r>
            <a:endParaRPr b="1"/>
          </a:p>
        </p:txBody>
      </p:sp>
      <p:sp>
        <p:nvSpPr>
          <p:cNvPr id="228" name="Google Shape;228;p29"/>
          <p:cNvSpPr txBox="1"/>
          <p:nvPr/>
        </p:nvSpPr>
        <p:spPr>
          <a:xfrm>
            <a:off x="370575" y="1432538"/>
            <a:ext cx="8438700" cy="714300"/>
          </a:xfrm>
          <a:prstGeom prst="rect">
            <a:avLst/>
          </a:prstGeom>
          <a:solidFill>
            <a:srgbClr val="F5F5F5"/>
          </a:solidFill>
          <a:ln cap="flat" cmpd="sng" w="9525">
            <a:solidFill>
              <a:srgbClr val="F5F5F5"/>
            </a:solidFill>
            <a:prstDash val="solid"/>
            <a:round/>
            <a:headEnd len="sm" w="sm" type="none"/>
            <a:tailEnd len="sm" w="sm" type="none"/>
          </a:ln>
        </p:spPr>
        <p:txBody>
          <a:bodyPr anchorCtr="0" anchor="t" bIns="91425" lIns="91425" spcFirstLastPara="1" rIns="91425" wrap="square" tIns="91425">
            <a:spAutoFit/>
          </a:bodyPr>
          <a:lstStyle/>
          <a:p>
            <a:pPr indent="-330200" lvl="0" marL="457200" marR="0" rtl="0" algn="l">
              <a:lnSpc>
                <a:spcPct val="115000"/>
              </a:lnSpc>
              <a:spcBef>
                <a:spcPts val="0"/>
              </a:spcBef>
              <a:spcAft>
                <a:spcPts val="0"/>
              </a:spcAft>
              <a:buClr>
                <a:srgbClr val="212529"/>
              </a:buClr>
              <a:buSzPts val="1600"/>
              <a:buFont typeface="Lato"/>
              <a:buChar char="●"/>
            </a:pPr>
            <a:r>
              <a:rPr lang="en" sz="1600">
                <a:solidFill>
                  <a:srgbClr val="212529"/>
                </a:solidFill>
                <a:latin typeface="Lato"/>
                <a:ea typeface="Lato"/>
                <a:cs typeface="Lato"/>
                <a:sym typeface="Lato"/>
              </a:rPr>
              <a:t>Observes pin level activity on interface signals and converts into packet level (transaction) which is sent to the scoreboard and coverage.</a:t>
            </a:r>
            <a:endParaRPr sz="1600">
              <a:solidFill>
                <a:srgbClr val="212529"/>
              </a:solidFill>
              <a:latin typeface="Lato"/>
              <a:ea typeface="Lato"/>
              <a:cs typeface="Lato"/>
              <a:sym typeface="Lato"/>
            </a:endParaRPr>
          </a:p>
        </p:txBody>
      </p:sp>
      <p:pic>
        <p:nvPicPr>
          <p:cNvPr id="229" name="Google Shape;229;p29"/>
          <p:cNvPicPr preferRelativeResize="0"/>
          <p:nvPr/>
        </p:nvPicPr>
        <p:blipFill>
          <a:blip r:embed="rId3">
            <a:alphaModFix/>
          </a:blip>
          <a:stretch>
            <a:fillRect/>
          </a:stretch>
        </p:blipFill>
        <p:spPr>
          <a:xfrm>
            <a:off x="370575" y="2344900"/>
            <a:ext cx="4512600" cy="1999595"/>
          </a:xfrm>
          <a:prstGeom prst="rect">
            <a:avLst/>
          </a:prstGeom>
          <a:noFill/>
          <a:ln>
            <a:noFill/>
          </a:ln>
          <a:effectLst>
            <a:outerShdw blurRad="57150" rotWithShape="0" algn="bl" dir="5400000" dist="19050">
              <a:srgbClr val="000000">
                <a:alpha val="50000"/>
              </a:srgbClr>
            </a:outerShdw>
          </a:effectLst>
        </p:spPr>
      </p:pic>
      <p:pic>
        <p:nvPicPr>
          <p:cNvPr id="230" name="Google Shape;230;p29"/>
          <p:cNvPicPr preferRelativeResize="0"/>
          <p:nvPr/>
        </p:nvPicPr>
        <p:blipFill>
          <a:blip r:embed="rId4">
            <a:alphaModFix/>
          </a:blip>
          <a:stretch>
            <a:fillRect/>
          </a:stretch>
        </p:blipFill>
        <p:spPr>
          <a:xfrm>
            <a:off x="5108325" y="2108300"/>
            <a:ext cx="3546425" cy="27776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Scoreboard</a:t>
            </a:r>
            <a:endParaRPr b="1"/>
          </a:p>
        </p:txBody>
      </p:sp>
      <p:pic>
        <p:nvPicPr>
          <p:cNvPr id="236" name="Google Shape;236;p30"/>
          <p:cNvPicPr preferRelativeResize="0"/>
          <p:nvPr/>
        </p:nvPicPr>
        <p:blipFill>
          <a:blip r:embed="rId3">
            <a:alphaModFix/>
          </a:blip>
          <a:stretch>
            <a:fillRect/>
          </a:stretch>
        </p:blipFill>
        <p:spPr>
          <a:xfrm>
            <a:off x="1937098" y="1868650"/>
            <a:ext cx="5091230" cy="3179675"/>
          </a:xfrm>
          <a:prstGeom prst="rect">
            <a:avLst/>
          </a:prstGeom>
          <a:noFill/>
          <a:ln>
            <a:noFill/>
          </a:ln>
          <a:effectLst>
            <a:outerShdw blurRad="57150" rotWithShape="0" algn="bl" dir="5400000" dist="19050">
              <a:srgbClr val="000000">
                <a:alpha val="50000"/>
              </a:srgbClr>
            </a:outerShdw>
          </a:effectLst>
        </p:spPr>
      </p:pic>
      <p:sp>
        <p:nvSpPr>
          <p:cNvPr id="237" name="Google Shape;237;p30"/>
          <p:cNvSpPr txBox="1"/>
          <p:nvPr/>
        </p:nvSpPr>
        <p:spPr>
          <a:xfrm>
            <a:off x="428875" y="1328225"/>
            <a:ext cx="8232000" cy="3933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SzPts val="1500"/>
              <a:buFont typeface="Lato"/>
              <a:buChar char="●"/>
            </a:pPr>
            <a:r>
              <a:rPr lang="en" sz="1500">
                <a:latin typeface="Lato"/>
                <a:ea typeface="Lato"/>
                <a:cs typeface="Lato"/>
                <a:sym typeface="Lato"/>
              </a:rPr>
              <a:t>Receives stimulus (transaction)  from Monitor and compares them with the expected values.</a:t>
            </a:r>
            <a:endParaRPr sz="1500">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Scoreboard (Cont.)</a:t>
            </a:r>
            <a:endParaRPr b="1"/>
          </a:p>
        </p:txBody>
      </p:sp>
      <p:pic>
        <p:nvPicPr>
          <p:cNvPr id="243" name="Google Shape;243;p31"/>
          <p:cNvPicPr preferRelativeResize="0"/>
          <p:nvPr/>
        </p:nvPicPr>
        <p:blipFill>
          <a:blip r:embed="rId3">
            <a:alphaModFix/>
          </a:blip>
          <a:stretch>
            <a:fillRect/>
          </a:stretch>
        </p:blipFill>
        <p:spPr>
          <a:xfrm>
            <a:off x="1295775" y="1832598"/>
            <a:ext cx="6552449" cy="3207400"/>
          </a:xfrm>
          <a:prstGeom prst="rect">
            <a:avLst/>
          </a:prstGeom>
          <a:noFill/>
          <a:ln>
            <a:noFill/>
          </a:ln>
          <a:effectLst>
            <a:outerShdw blurRad="57150" rotWithShape="0" algn="bl" dir="5400000" dist="19050">
              <a:srgbClr val="000000">
                <a:alpha val="50000"/>
              </a:srgbClr>
            </a:outerShdw>
          </a:effectLst>
        </p:spPr>
      </p:pic>
      <p:sp>
        <p:nvSpPr>
          <p:cNvPr id="244" name="Google Shape;244;p31"/>
          <p:cNvSpPr txBox="1"/>
          <p:nvPr/>
        </p:nvSpPr>
        <p:spPr>
          <a:xfrm>
            <a:off x="534075" y="1354450"/>
            <a:ext cx="7934700" cy="4455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SzPts val="1600"/>
              <a:buFont typeface="Lato"/>
              <a:buChar char="●"/>
            </a:pPr>
            <a:r>
              <a:rPr lang="en" sz="1600">
                <a:latin typeface="Lato"/>
                <a:ea typeface="Lato"/>
                <a:cs typeface="Lato"/>
                <a:sym typeface="Lato"/>
              </a:rPr>
              <a:t>Here, expected values for A_count and C_out are updated.</a:t>
            </a:r>
            <a:endParaRPr sz="1600">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Scoreboard (Cont.)</a:t>
            </a:r>
            <a:endParaRPr b="1"/>
          </a:p>
        </p:txBody>
      </p:sp>
      <p:pic>
        <p:nvPicPr>
          <p:cNvPr id="250" name="Google Shape;250;p32"/>
          <p:cNvPicPr preferRelativeResize="0"/>
          <p:nvPr/>
        </p:nvPicPr>
        <p:blipFill>
          <a:blip r:embed="rId3">
            <a:alphaModFix/>
          </a:blip>
          <a:stretch>
            <a:fillRect/>
          </a:stretch>
        </p:blipFill>
        <p:spPr>
          <a:xfrm>
            <a:off x="1732700" y="1961000"/>
            <a:ext cx="5678600" cy="3127375"/>
          </a:xfrm>
          <a:prstGeom prst="rect">
            <a:avLst/>
          </a:prstGeom>
          <a:noFill/>
          <a:ln>
            <a:noFill/>
          </a:ln>
          <a:effectLst>
            <a:outerShdw blurRad="57150" rotWithShape="0" algn="bl" dir="5400000" dist="19050">
              <a:srgbClr val="000000">
                <a:alpha val="50000"/>
              </a:srgbClr>
            </a:outerShdw>
          </a:effectLst>
        </p:spPr>
      </p:pic>
      <p:sp>
        <p:nvSpPr>
          <p:cNvPr id="251" name="Google Shape;251;p32"/>
          <p:cNvSpPr txBox="1"/>
          <p:nvPr/>
        </p:nvSpPr>
        <p:spPr>
          <a:xfrm>
            <a:off x="534075" y="1247368"/>
            <a:ext cx="8004600" cy="657000"/>
          </a:xfrm>
          <a:prstGeom prst="rect">
            <a:avLst/>
          </a:prstGeom>
          <a:noFill/>
          <a:ln>
            <a:noFill/>
          </a:ln>
        </p:spPr>
        <p:txBody>
          <a:bodyPr anchorCtr="0" anchor="ctr" bIns="91425" lIns="91425" spcFirstLastPara="1" rIns="91425" wrap="square" tIns="91425">
            <a:noAutofit/>
          </a:bodyPr>
          <a:lstStyle/>
          <a:p>
            <a:pPr indent="-317500" lvl="0" marL="457200" rtl="0" algn="l">
              <a:spcBef>
                <a:spcPts val="0"/>
              </a:spcBef>
              <a:spcAft>
                <a:spcPts val="0"/>
              </a:spcAft>
              <a:buSzPts val="1400"/>
              <a:buFont typeface="Lato"/>
              <a:buChar char="●"/>
            </a:pPr>
            <a:r>
              <a:rPr lang="en">
                <a:latin typeface="Lato"/>
                <a:ea typeface="Lato"/>
                <a:cs typeface="Lato"/>
                <a:sym typeface="Lato"/>
              </a:rPr>
              <a:t>If expected value for A_count and C_out = actual values, then pass is incremented. Otherwise, fail is incremented and also checks which of the expected values are not equal to the actual values. After comparing all of the values for each test case, a final report is generated.</a:t>
            </a:r>
            <a:endParaRPr>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id="256" name="Google Shape;256;p33"/>
          <p:cNvPicPr preferRelativeResize="0"/>
          <p:nvPr/>
        </p:nvPicPr>
        <p:blipFill>
          <a:blip r:embed="rId3">
            <a:alphaModFix/>
          </a:blip>
          <a:stretch>
            <a:fillRect/>
          </a:stretch>
        </p:blipFill>
        <p:spPr>
          <a:xfrm>
            <a:off x="3361750" y="1615137"/>
            <a:ext cx="5658051" cy="3218050"/>
          </a:xfrm>
          <a:prstGeom prst="rect">
            <a:avLst/>
          </a:prstGeom>
          <a:noFill/>
          <a:ln>
            <a:noFill/>
          </a:ln>
          <a:effectLst>
            <a:outerShdw blurRad="57150" rotWithShape="0" algn="bl" dir="5400000" dist="19050">
              <a:srgbClr val="000000">
                <a:alpha val="50000"/>
              </a:srgbClr>
            </a:outerShdw>
          </a:effectLst>
        </p:spPr>
      </p:pic>
      <p:pic>
        <p:nvPicPr>
          <p:cNvPr id="257" name="Google Shape;257;p33"/>
          <p:cNvPicPr preferRelativeResize="0"/>
          <p:nvPr/>
        </p:nvPicPr>
        <p:blipFill>
          <a:blip r:embed="rId4">
            <a:alphaModFix/>
          </a:blip>
          <a:stretch>
            <a:fillRect/>
          </a:stretch>
        </p:blipFill>
        <p:spPr>
          <a:xfrm>
            <a:off x="283200" y="1399950"/>
            <a:ext cx="3028850" cy="3648399"/>
          </a:xfrm>
          <a:prstGeom prst="rect">
            <a:avLst/>
          </a:prstGeom>
          <a:noFill/>
          <a:ln>
            <a:noFill/>
          </a:ln>
          <a:effectLst>
            <a:outerShdw blurRad="57150" rotWithShape="0" algn="bl" dir="5400000" dist="19050">
              <a:srgbClr val="000000">
                <a:alpha val="50000"/>
              </a:srgbClr>
            </a:outerShdw>
          </a:effectLst>
        </p:spPr>
      </p:pic>
      <p:sp>
        <p:nvSpPr>
          <p:cNvPr id="258" name="Google Shape;258;p3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Coverage</a:t>
            </a:r>
            <a:endParaRPr b="1"/>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Coverage (cont.)</a:t>
            </a:r>
            <a:endParaRPr b="1"/>
          </a:p>
        </p:txBody>
      </p:sp>
      <p:pic>
        <p:nvPicPr>
          <p:cNvPr id="264" name="Google Shape;264;p34"/>
          <p:cNvPicPr preferRelativeResize="0"/>
          <p:nvPr/>
        </p:nvPicPr>
        <p:blipFill>
          <a:blip r:embed="rId3">
            <a:alphaModFix/>
          </a:blip>
          <a:stretch>
            <a:fillRect/>
          </a:stretch>
        </p:blipFill>
        <p:spPr>
          <a:xfrm>
            <a:off x="1704650" y="1439526"/>
            <a:ext cx="5310600" cy="31462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Reset Test</a:t>
            </a:r>
            <a:endParaRPr b="1"/>
          </a:p>
        </p:txBody>
      </p:sp>
      <p:grpSp>
        <p:nvGrpSpPr>
          <p:cNvPr id="270" name="Google Shape;270;p35"/>
          <p:cNvGrpSpPr/>
          <p:nvPr/>
        </p:nvGrpSpPr>
        <p:grpSpPr>
          <a:xfrm>
            <a:off x="269403" y="1309194"/>
            <a:ext cx="8473524" cy="3733150"/>
            <a:chOff x="295250" y="1063650"/>
            <a:chExt cx="8473524" cy="3733150"/>
          </a:xfrm>
        </p:grpSpPr>
        <p:pic>
          <p:nvPicPr>
            <p:cNvPr id="271" name="Google Shape;271;p35"/>
            <p:cNvPicPr preferRelativeResize="0"/>
            <p:nvPr/>
          </p:nvPicPr>
          <p:blipFill>
            <a:blip r:embed="rId3">
              <a:alphaModFix/>
            </a:blip>
            <a:stretch>
              <a:fillRect/>
            </a:stretch>
          </p:blipFill>
          <p:spPr>
            <a:xfrm>
              <a:off x="295250" y="1144889"/>
              <a:ext cx="3242699" cy="1210471"/>
            </a:xfrm>
            <a:prstGeom prst="rect">
              <a:avLst/>
            </a:prstGeom>
            <a:noFill/>
            <a:ln>
              <a:noFill/>
            </a:ln>
            <a:effectLst>
              <a:outerShdw blurRad="57150" rotWithShape="0" algn="bl" dir="5400000" dist="19050">
                <a:srgbClr val="000000">
                  <a:alpha val="50000"/>
                </a:srgbClr>
              </a:outerShdw>
            </a:effectLst>
          </p:spPr>
        </p:pic>
        <p:pic>
          <p:nvPicPr>
            <p:cNvPr id="272" name="Google Shape;272;p35"/>
            <p:cNvPicPr preferRelativeResize="0"/>
            <p:nvPr/>
          </p:nvPicPr>
          <p:blipFill>
            <a:blip r:embed="rId4">
              <a:alphaModFix/>
            </a:blip>
            <a:stretch>
              <a:fillRect/>
            </a:stretch>
          </p:blipFill>
          <p:spPr>
            <a:xfrm>
              <a:off x="295250" y="2472375"/>
              <a:ext cx="3242700" cy="2324425"/>
            </a:xfrm>
            <a:prstGeom prst="rect">
              <a:avLst/>
            </a:prstGeom>
            <a:noFill/>
            <a:ln>
              <a:noFill/>
            </a:ln>
            <a:effectLst>
              <a:outerShdw blurRad="57150" rotWithShape="0" algn="bl" dir="5400000" dist="19050">
                <a:srgbClr val="000000">
                  <a:alpha val="50000"/>
                </a:srgbClr>
              </a:outerShdw>
            </a:effectLst>
          </p:spPr>
        </p:pic>
        <p:pic>
          <p:nvPicPr>
            <p:cNvPr id="273" name="Google Shape;273;p35"/>
            <p:cNvPicPr preferRelativeResize="0"/>
            <p:nvPr/>
          </p:nvPicPr>
          <p:blipFill rotWithShape="1">
            <a:blip r:embed="rId5">
              <a:alphaModFix/>
            </a:blip>
            <a:srcRect b="0" l="0" r="0" t="0"/>
            <a:stretch/>
          </p:blipFill>
          <p:spPr>
            <a:xfrm>
              <a:off x="3634975" y="1063650"/>
              <a:ext cx="5133799" cy="1372950"/>
            </a:xfrm>
            <a:prstGeom prst="rect">
              <a:avLst/>
            </a:prstGeom>
            <a:noFill/>
            <a:ln>
              <a:noFill/>
            </a:ln>
          </p:spPr>
        </p:pic>
        <p:grpSp>
          <p:nvGrpSpPr>
            <p:cNvPr id="274" name="Google Shape;274;p35"/>
            <p:cNvGrpSpPr/>
            <p:nvPr/>
          </p:nvGrpSpPr>
          <p:grpSpPr>
            <a:xfrm>
              <a:off x="5800450" y="1365750"/>
              <a:ext cx="146700" cy="1544400"/>
              <a:chOff x="5800450" y="1365750"/>
              <a:chExt cx="146700" cy="1544400"/>
            </a:xfrm>
          </p:grpSpPr>
          <p:sp>
            <p:nvSpPr>
              <p:cNvPr id="275" name="Google Shape;275;p35"/>
              <p:cNvSpPr/>
              <p:nvPr/>
            </p:nvSpPr>
            <p:spPr>
              <a:xfrm>
                <a:off x="5800450" y="1365750"/>
                <a:ext cx="146700" cy="1206000"/>
              </a:xfrm>
              <a:prstGeom prst="rect">
                <a:avLst/>
              </a:prstGeom>
              <a:noFill/>
              <a:ln cap="flat" cmpd="sng" w="19050">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76" name="Google Shape;276;p35"/>
              <p:cNvCxnSpPr/>
              <p:nvPr/>
            </p:nvCxnSpPr>
            <p:spPr>
              <a:xfrm rot="10800000">
                <a:off x="5873800" y="2571750"/>
                <a:ext cx="0" cy="338400"/>
              </a:xfrm>
              <a:prstGeom prst="straightConnector1">
                <a:avLst/>
              </a:prstGeom>
              <a:noFill/>
              <a:ln cap="flat" cmpd="sng" w="19050">
                <a:solidFill>
                  <a:srgbClr val="F1C232"/>
                </a:solidFill>
                <a:prstDash val="solid"/>
                <a:round/>
                <a:headEnd len="med" w="med" type="none"/>
                <a:tailEnd len="med" w="med" type="stealth"/>
              </a:ln>
            </p:spPr>
          </p:cxnSp>
        </p:grpSp>
        <p:sp>
          <p:nvSpPr>
            <p:cNvPr id="277" name="Google Shape;277;p35"/>
            <p:cNvSpPr txBox="1"/>
            <p:nvPr/>
          </p:nvSpPr>
          <p:spPr>
            <a:xfrm>
              <a:off x="5152900" y="2907475"/>
              <a:ext cx="1854300" cy="19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rgbClr val="BF9000"/>
                  </a:solidFill>
                  <a:latin typeface="Lato"/>
                  <a:ea typeface="Lato"/>
                  <a:cs typeface="Lato"/>
                  <a:sym typeface="Lato"/>
                </a:rPr>
                <a:t>Asynchronous reset</a:t>
              </a:r>
              <a:endParaRPr b="1" sz="1300">
                <a:solidFill>
                  <a:srgbClr val="BF9000"/>
                </a:solidFill>
                <a:latin typeface="Lato"/>
                <a:ea typeface="Lato"/>
                <a:cs typeface="Lato"/>
                <a:sym typeface="Lato"/>
              </a:endParaRPr>
            </a:p>
          </p:txBody>
        </p:sp>
        <p:sp>
          <p:nvSpPr>
            <p:cNvPr id="278" name="Google Shape;278;p35"/>
            <p:cNvSpPr/>
            <p:nvPr/>
          </p:nvSpPr>
          <p:spPr>
            <a:xfrm>
              <a:off x="6867250" y="1365750"/>
              <a:ext cx="146700" cy="1206000"/>
            </a:xfrm>
            <a:prstGeom prst="rect">
              <a:avLst/>
            </a:prstGeom>
            <a:noFill/>
            <a:ln cap="flat" cmpd="sng" w="19050">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79" name="Google Shape;279;p35"/>
            <p:cNvCxnSpPr/>
            <p:nvPr/>
          </p:nvCxnSpPr>
          <p:spPr>
            <a:xfrm flipH="1" rot="10800000">
              <a:off x="6538550" y="2571625"/>
              <a:ext cx="402000" cy="350400"/>
            </a:xfrm>
            <a:prstGeom prst="straightConnector1">
              <a:avLst/>
            </a:prstGeom>
            <a:noFill/>
            <a:ln cap="flat" cmpd="sng" w="19050">
              <a:solidFill>
                <a:srgbClr val="F1C232"/>
              </a:solidFill>
              <a:prstDash val="solid"/>
              <a:round/>
              <a:headEnd len="med" w="med" type="none"/>
              <a:tailEnd len="med" w="med" type="stealth"/>
            </a:ln>
          </p:spPr>
        </p:cxnSp>
        <p:sp>
          <p:nvSpPr>
            <p:cNvPr id="280" name="Google Shape;280;p35"/>
            <p:cNvSpPr txBox="1"/>
            <p:nvPr/>
          </p:nvSpPr>
          <p:spPr>
            <a:xfrm>
              <a:off x="3992050" y="3194925"/>
              <a:ext cx="4697100" cy="1570800"/>
            </a:xfrm>
            <a:prstGeom prst="rect">
              <a:avLst/>
            </a:prstGeom>
            <a:solidFill>
              <a:srgbClr val="EAD1DC"/>
            </a:solidFill>
            <a:ln cap="flat" cmpd="sng" w="9525">
              <a:solidFill>
                <a:srgbClr val="F5F5F5"/>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lang="en" sz="1500">
                  <a:solidFill>
                    <a:srgbClr val="212529"/>
                  </a:solidFill>
                  <a:latin typeface="Lato"/>
                  <a:ea typeface="Lato"/>
                  <a:cs typeface="Lato"/>
                  <a:sym typeface="Lato"/>
                </a:rPr>
                <a:t>Bug Report: Asynchronous Reset (Both designs)</a:t>
              </a:r>
              <a:endParaRPr b="1" sz="1500">
                <a:solidFill>
                  <a:srgbClr val="212529"/>
                </a:solidFill>
                <a:latin typeface="Lato"/>
                <a:ea typeface="Lato"/>
                <a:cs typeface="Lato"/>
                <a:sym typeface="Lato"/>
              </a:endParaRPr>
            </a:p>
            <a:p>
              <a:pPr indent="-311150" lvl="0" marL="457200" marR="0" rtl="0" algn="l">
                <a:lnSpc>
                  <a:spcPct val="115000"/>
                </a:lnSpc>
                <a:spcBef>
                  <a:spcPts val="0"/>
                </a:spcBef>
                <a:spcAft>
                  <a:spcPts val="0"/>
                </a:spcAft>
                <a:buClr>
                  <a:srgbClr val="212529"/>
                </a:buClr>
                <a:buSzPts val="1300"/>
                <a:buFont typeface="Lexend"/>
                <a:buChar char="●"/>
              </a:pPr>
              <a:r>
                <a:rPr lang="en" sz="1300">
                  <a:solidFill>
                    <a:srgbClr val="212529"/>
                  </a:solidFill>
                  <a:latin typeface="Lexend"/>
                  <a:ea typeface="Lexend"/>
                  <a:cs typeface="Lexend"/>
                  <a:sym typeface="Lexend"/>
                </a:rPr>
                <a:t>Whenever reset task is called, A_count gets to 0, like an asynchronous reset. </a:t>
              </a:r>
              <a:endParaRPr sz="1300">
                <a:solidFill>
                  <a:srgbClr val="212529"/>
                </a:solidFill>
                <a:latin typeface="Lexend"/>
                <a:ea typeface="Lexend"/>
                <a:cs typeface="Lexend"/>
                <a:sym typeface="Lexend"/>
              </a:endParaRPr>
            </a:p>
            <a:p>
              <a:pPr indent="-311150" lvl="0" marL="457200" marR="0" rtl="0" algn="l">
                <a:lnSpc>
                  <a:spcPct val="115000"/>
                </a:lnSpc>
                <a:spcBef>
                  <a:spcPts val="0"/>
                </a:spcBef>
                <a:spcAft>
                  <a:spcPts val="0"/>
                </a:spcAft>
                <a:buClr>
                  <a:srgbClr val="212529"/>
                </a:buClr>
                <a:buSzPts val="1300"/>
                <a:buFont typeface="Lexend"/>
                <a:buChar char="●"/>
              </a:pPr>
              <a:r>
                <a:rPr lang="en" sz="1300">
                  <a:solidFill>
                    <a:srgbClr val="212529"/>
                  </a:solidFill>
                  <a:latin typeface="Lexend"/>
                  <a:ea typeface="Lexend"/>
                  <a:cs typeface="Lexend"/>
                  <a:sym typeface="Lexend"/>
                </a:rPr>
                <a:t>The design was supposed to have a synchronous reset, which means A_count would be set to 0 at the positive edge of the clock pulse. </a:t>
              </a:r>
              <a:endParaRPr b="0" i="0" sz="1300" u="none" cap="none" strike="noStrike">
                <a:solidFill>
                  <a:srgbClr val="212529"/>
                </a:solidFill>
                <a:latin typeface="Lexend"/>
                <a:ea typeface="Lexend"/>
                <a:cs typeface="Lexend"/>
                <a:sym typeface="Lexend"/>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Up Counting Test</a:t>
            </a:r>
            <a:endParaRPr b="1"/>
          </a:p>
        </p:txBody>
      </p:sp>
      <p:grpSp>
        <p:nvGrpSpPr>
          <p:cNvPr id="286" name="Google Shape;286;p36"/>
          <p:cNvGrpSpPr/>
          <p:nvPr/>
        </p:nvGrpSpPr>
        <p:grpSpPr>
          <a:xfrm>
            <a:off x="295113" y="1120216"/>
            <a:ext cx="8508063" cy="3934513"/>
            <a:chOff x="295113" y="952212"/>
            <a:chExt cx="8508063" cy="3934513"/>
          </a:xfrm>
        </p:grpSpPr>
        <p:pic>
          <p:nvPicPr>
            <p:cNvPr id="287" name="Google Shape;287;p36"/>
            <p:cNvPicPr preferRelativeResize="0"/>
            <p:nvPr/>
          </p:nvPicPr>
          <p:blipFill>
            <a:blip r:embed="rId3">
              <a:alphaModFix/>
            </a:blip>
            <a:stretch>
              <a:fillRect/>
            </a:stretch>
          </p:blipFill>
          <p:spPr>
            <a:xfrm>
              <a:off x="295113" y="3032400"/>
              <a:ext cx="3673371" cy="1787326"/>
            </a:xfrm>
            <a:prstGeom prst="rect">
              <a:avLst/>
            </a:prstGeom>
            <a:noFill/>
            <a:ln>
              <a:noFill/>
            </a:ln>
          </p:spPr>
        </p:pic>
        <p:pic>
          <p:nvPicPr>
            <p:cNvPr id="288" name="Google Shape;288;p36"/>
            <p:cNvPicPr preferRelativeResize="0"/>
            <p:nvPr/>
          </p:nvPicPr>
          <p:blipFill rotWithShape="1">
            <a:blip r:embed="rId4">
              <a:alphaModFix/>
            </a:blip>
            <a:srcRect b="0" l="3110" r="0" t="0"/>
            <a:stretch/>
          </p:blipFill>
          <p:spPr>
            <a:xfrm>
              <a:off x="296363" y="2302096"/>
              <a:ext cx="3673351" cy="658309"/>
            </a:xfrm>
            <a:prstGeom prst="rect">
              <a:avLst/>
            </a:prstGeom>
            <a:noFill/>
            <a:ln>
              <a:noFill/>
            </a:ln>
          </p:spPr>
        </p:pic>
        <p:grpSp>
          <p:nvGrpSpPr>
            <p:cNvPr id="289" name="Google Shape;289;p36"/>
            <p:cNvGrpSpPr/>
            <p:nvPr/>
          </p:nvGrpSpPr>
          <p:grpSpPr>
            <a:xfrm>
              <a:off x="4054101" y="3570475"/>
              <a:ext cx="4749075" cy="1316250"/>
              <a:chOff x="4054101" y="3494275"/>
              <a:chExt cx="4749075" cy="1316250"/>
            </a:xfrm>
          </p:grpSpPr>
          <p:pic>
            <p:nvPicPr>
              <p:cNvPr id="290" name="Google Shape;290;p36"/>
              <p:cNvPicPr preferRelativeResize="0"/>
              <p:nvPr/>
            </p:nvPicPr>
            <p:blipFill>
              <a:blip r:embed="rId5">
                <a:alphaModFix/>
              </a:blip>
              <a:stretch>
                <a:fillRect/>
              </a:stretch>
            </p:blipFill>
            <p:spPr>
              <a:xfrm>
                <a:off x="4054101" y="3494275"/>
                <a:ext cx="4749075" cy="1249250"/>
              </a:xfrm>
              <a:prstGeom prst="rect">
                <a:avLst/>
              </a:prstGeom>
              <a:noFill/>
              <a:ln>
                <a:noFill/>
              </a:ln>
            </p:spPr>
          </p:pic>
          <p:sp>
            <p:nvSpPr>
              <p:cNvPr id="291" name="Google Shape;291;p36"/>
              <p:cNvSpPr/>
              <p:nvPr/>
            </p:nvSpPr>
            <p:spPr>
              <a:xfrm>
                <a:off x="8266075" y="4334725"/>
                <a:ext cx="453000" cy="475800"/>
              </a:xfrm>
              <a:prstGeom prst="ellipse">
                <a:avLst/>
              </a:prstGeom>
              <a:no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sp>
          <p:nvSpPr>
            <p:cNvPr id="292" name="Google Shape;292;p36"/>
            <p:cNvSpPr txBox="1"/>
            <p:nvPr/>
          </p:nvSpPr>
          <p:spPr>
            <a:xfrm>
              <a:off x="352650" y="952212"/>
              <a:ext cx="8438700" cy="1186800"/>
            </a:xfrm>
            <a:prstGeom prst="rect">
              <a:avLst/>
            </a:prstGeom>
            <a:solidFill>
              <a:srgbClr val="D9D2E9"/>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a:solidFill>
                    <a:srgbClr val="212529"/>
                  </a:solidFill>
                  <a:latin typeface="Lato"/>
                  <a:ea typeface="Lato"/>
                  <a:cs typeface="Lato"/>
                  <a:sym typeface="Lato"/>
                </a:rPr>
                <a:t>Bug Report: C_out value (Previous design)</a:t>
              </a:r>
              <a:endParaRPr b="1">
                <a:solidFill>
                  <a:srgbClr val="212529"/>
                </a:solidFill>
                <a:latin typeface="Lato"/>
                <a:ea typeface="Lato"/>
                <a:cs typeface="Lato"/>
                <a:sym typeface="Lato"/>
              </a:endParaRPr>
            </a:p>
            <a:p>
              <a:pPr indent="-304800" lvl="0" marL="457200" marR="0" rtl="0" algn="l">
                <a:lnSpc>
                  <a:spcPct val="115000"/>
                </a:lnSpc>
                <a:spcBef>
                  <a:spcPts val="0"/>
                </a:spcBef>
                <a:spcAft>
                  <a:spcPts val="0"/>
                </a:spcAft>
                <a:buClr>
                  <a:srgbClr val="212529"/>
                </a:buClr>
                <a:buSzPts val="1200"/>
                <a:buFont typeface="Lato"/>
                <a:buChar char="●"/>
              </a:pPr>
              <a:r>
                <a:rPr lang="en" sz="1200">
                  <a:solidFill>
                    <a:srgbClr val="212529"/>
                  </a:solidFill>
                  <a:latin typeface="Lato"/>
                  <a:ea typeface="Lato"/>
                  <a:cs typeface="Lato"/>
                  <a:sym typeface="Lato"/>
                </a:rPr>
                <a:t>In case of UP COUNTING, (reset=1, enable=1, load=0 and count = 1), the value of C_out was expected to be 1 after A_count again becomes 0000 after 1111. However, the value of C_out = 0 for that scenario.</a:t>
              </a:r>
              <a:endParaRPr sz="1200">
                <a:solidFill>
                  <a:srgbClr val="212529"/>
                </a:solidFill>
                <a:latin typeface="Lato"/>
                <a:ea typeface="Lato"/>
                <a:cs typeface="Lato"/>
                <a:sym typeface="Lato"/>
              </a:endParaRPr>
            </a:p>
            <a:p>
              <a:pPr indent="-304800" lvl="0" marL="457200" marR="0" rtl="0" algn="l">
                <a:lnSpc>
                  <a:spcPct val="115000"/>
                </a:lnSpc>
                <a:spcBef>
                  <a:spcPts val="0"/>
                </a:spcBef>
                <a:spcAft>
                  <a:spcPts val="0"/>
                </a:spcAft>
                <a:buClr>
                  <a:srgbClr val="212529"/>
                </a:buClr>
                <a:buSzPts val="1200"/>
                <a:buFont typeface="Lato"/>
                <a:buChar char="●"/>
              </a:pPr>
              <a:r>
                <a:rPr lang="en" sz="1200">
                  <a:solidFill>
                    <a:srgbClr val="212529"/>
                  </a:solidFill>
                  <a:latin typeface="Lato"/>
                  <a:ea typeface="Lato"/>
                  <a:cs typeface="Lato"/>
                  <a:sym typeface="Lato"/>
                </a:rPr>
                <a:t>On the other hand, C_out becomes 1 when A_count UPCOUNTs to 1010, and on the next cycle, when A_count increments to 1011, C_out again becomes 0. C_out was expected to be 0 in this whole scenario. </a:t>
              </a:r>
              <a:endParaRPr sz="1200">
                <a:solidFill>
                  <a:srgbClr val="212529"/>
                </a:solidFill>
                <a:latin typeface="Lato"/>
                <a:ea typeface="Lato"/>
                <a:cs typeface="Lato"/>
                <a:sym typeface="Lato"/>
              </a:endParaRPr>
            </a:p>
          </p:txBody>
        </p:sp>
        <p:grpSp>
          <p:nvGrpSpPr>
            <p:cNvPr id="293" name="Google Shape;293;p36"/>
            <p:cNvGrpSpPr/>
            <p:nvPr/>
          </p:nvGrpSpPr>
          <p:grpSpPr>
            <a:xfrm>
              <a:off x="4054100" y="2194200"/>
              <a:ext cx="4664926" cy="1329475"/>
              <a:chOff x="4054100" y="2118000"/>
              <a:chExt cx="4664926" cy="1329475"/>
            </a:xfrm>
          </p:grpSpPr>
          <p:pic>
            <p:nvPicPr>
              <p:cNvPr id="294" name="Google Shape;294;p36"/>
              <p:cNvPicPr preferRelativeResize="0"/>
              <p:nvPr/>
            </p:nvPicPr>
            <p:blipFill>
              <a:blip r:embed="rId6">
                <a:alphaModFix/>
              </a:blip>
              <a:stretch>
                <a:fillRect/>
              </a:stretch>
            </p:blipFill>
            <p:spPr>
              <a:xfrm>
                <a:off x="4054100" y="2118000"/>
                <a:ext cx="4664926" cy="1287600"/>
              </a:xfrm>
              <a:prstGeom prst="rect">
                <a:avLst/>
              </a:prstGeom>
              <a:noFill/>
              <a:ln>
                <a:noFill/>
              </a:ln>
            </p:spPr>
          </p:pic>
          <p:sp>
            <p:nvSpPr>
              <p:cNvPr id="295" name="Google Shape;295;p36"/>
              <p:cNvSpPr/>
              <p:nvPr/>
            </p:nvSpPr>
            <p:spPr>
              <a:xfrm>
                <a:off x="7054300" y="3091975"/>
                <a:ext cx="453000" cy="355500"/>
              </a:xfrm>
              <a:prstGeom prst="ellipse">
                <a:avLst/>
              </a:prstGeom>
              <a:no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6" name="Google Shape;296;p36"/>
              <p:cNvSpPr/>
              <p:nvPr/>
            </p:nvSpPr>
            <p:spPr>
              <a:xfrm>
                <a:off x="7966950" y="3091975"/>
                <a:ext cx="453000" cy="355500"/>
              </a:xfrm>
              <a:prstGeom prst="ellipse">
                <a:avLst/>
              </a:prstGeom>
              <a:no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Down </a:t>
            </a:r>
            <a:r>
              <a:rPr b="1" lang="en"/>
              <a:t>Counting Test</a:t>
            </a:r>
            <a:endParaRPr b="1"/>
          </a:p>
        </p:txBody>
      </p:sp>
      <p:grpSp>
        <p:nvGrpSpPr>
          <p:cNvPr id="302" name="Google Shape;302;p37"/>
          <p:cNvGrpSpPr/>
          <p:nvPr/>
        </p:nvGrpSpPr>
        <p:grpSpPr>
          <a:xfrm>
            <a:off x="279500" y="1235231"/>
            <a:ext cx="8671200" cy="3839688"/>
            <a:chOff x="279500" y="989688"/>
            <a:chExt cx="8671200" cy="3839688"/>
          </a:xfrm>
        </p:grpSpPr>
        <p:pic>
          <p:nvPicPr>
            <p:cNvPr id="303" name="Google Shape;303;p37"/>
            <p:cNvPicPr preferRelativeResize="0"/>
            <p:nvPr/>
          </p:nvPicPr>
          <p:blipFill>
            <a:blip r:embed="rId3">
              <a:alphaModFix/>
            </a:blip>
            <a:stretch>
              <a:fillRect/>
            </a:stretch>
          </p:blipFill>
          <p:spPr>
            <a:xfrm>
              <a:off x="4252550" y="3610575"/>
              <a:ext cx="4698150" cy="1218801"/>
            </a:xfrm>
            <a:prstGeom prst="rect">
              <a:avLst/>
            </a:prstGeom>
            <a:noFill/>
            <a:ln>
              <a:noFill/>
            </a:ln>
          </p:spPr>
        </p:pic>
        <p:pic>
          <p:nvPicPr>
            <p:cNvPr id="304" name="Google Shape;304;p37"/>
            <p:cNvPicPr preferRelativeResize="0"/>
            <p:nvPr/>
          </p:nvPicPr>
          <p:blipFill>
            <a:blip r:embed="rId4">
              <a:alphaModFix/>
            </a:blip>
            <a:stretch>
              <a:fillRect/>
            </a:stretch>
          </p:blipFill>
          <p:spPr>
            <a:xfrm>
              <a:off x="279500" y="1902600"/>
              <a:ext cx="3695950" cy="669850"/>
            </a:xfrm>
            <a:prstGeom prst="rect">
              <a:avLst/>
            </a:prstGeom>
            <a:noFill/>
            <a:ln>
              <a:noFill/>
            </a:ln>
          </p:spPr>
        </p:pic>
        <p:pic>
          <p:nvPicPr>
            <p:cNvPr id="305" name="Google Shape;305;p37"/>
            <p:cNvPicPr preferRelativeResize="0"/>
            <p:nvPr/>
          </p:nvPicPr>
          <p:blipFill>
            <a:blip r:embed="rId5">
              <a:alphaModFix/>
            </a:blip>
            <a:stretch>
              <a:fillRect/>
            </a:stretch>
          </p:blipFill>
          <p:spPr>
            <a:xfrm>
              <a:off x="4252550" y="1902600"/>
              <a:ext cx="4698149" cy="1287600"/>
            </a:xfrm>
            <a:prstGeom prst="rect">
              <a:avLst/>
            </a:prstGeom>
            <a:noFill/>
            <a:ln>
              <a:noFill/>
            </a:ln>
          </p:spPr>
        </p:pic>
        <p:pic>
          <p:nvPicPr>
            <p:cNvPr id="306" name="Google Shape;306;p37"/>
            <p:cNvPicPr preferRelativeResize="0"/>
            <p:nvPr/>
          </p:nvPicPr>
          <p:blipFill>
            <a:blip r:embed="rId6">
              <a:alphaModFix/>
            </a:blip>
            <a:stretch>
              <a:fillRect/>
            </a:stretch>
          </p:blipFill>
          <p:spPr>
            <a:xfrm>
              <a:off x="279500" y="2616725"/>
              <a:ext cx="3881499" cy="1907850"/>
            </a:xfrm>
            <a:prstGeom prst="rect">
              <a:avLst/>
            </a:prstGeom>
            <a:noFill/>
            <a:ln>
              <a:noFill/>
            </a:ln>
          </p:spPr>
        </p:pic>
        <p:sp>
          <p:nvSpPr>
            <p:cNvPr id="307" name="Google Shape;307;p37"/>
            <p:cNvSpPr txBox="1"/>
            <p:nvPr/>
          </p:nvSpPr>
          <p:spPr>
            <a:xfrm>
              <a:off x="352650" y="989688"/>
              <a:ext cx="8438700" cy="8628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lang="en">
                  <a:solidFill>
                    <a:srgbClr val="212529"/>
                  </a:solidFill>
                  <a:latin typeface="Lato"/>
                  <a:ea typeface="Lato"/>
                  <a:cs typeface="Lato"/>
                  <a:sym typeface="Lato"/>
                </a:rPr>
                <a:t>Bug Report: Down Counting Operation (Previous design)</a:t>
              </a:r>
              <a:endParaRPr b="1">
                <a:solidFill>
                  <a:srgbClr val="212529"/>
                </a:solidFill>
                <a:latin typeface="Lato"/>
                <a:ea typeface="Lato"/>
                <a:cs typeface="Lato"/>
                <a:sym typeface="Lato"/>
              </a:endParaRPr>
            </a:p>
            <a:p>
              <a:pPr indent="-311150" lvl="0" marL="457200" marR="0" rtl="0" algn="l">
                <a:lnSpc>
                  <a:spcPct val="115000"/>
                </a:lnSpc>
                <a:spcBef>
                  <a:spcPts val="0"/>
                </a:spcBef>
                <a:spcAft>
                  <a:spcPts val="0"/>
                </a:spcAft>
                <a:buClr>
                  <a:srgbClr val="212529"/>
                </a:buClr>
                <a:buSzPts val="1300"/>
                <a:buFont typeface="Lato"/>
                <a:buChar char="●"/>
              </a:pPr>
              <a:r>
                <a:rPr lang="en" sz="1300">
                  <a:solidFill>
                    <a:srgbClr val="212529"/>
                  </a:solidFill>
                  <a:latin typeface="Lato"/>
                  <a:ea typeface="Lato"/>
                  <a:cs typeface="Lato"/>
                  <a:sym typeface="Lato"/>
                </a:rPr>
                <a:t>When reset=1, enable=1, load=0 and count = 0, A_count was supposed to be counting backwards</a:t>
              </a:r>
              <a:endParaRPr sz="1300">
                <a:solidFill>
                  <a:srgbClr val="212529"/>
                </a:solidFill>
                <a:latin typeface="Lato"/>
                <a:ea typeface="Lato"/>
                <a:cs typeface="Lato"/>
                <a:sym typeface="Lato"/>
              </a:endParaRPr>
            </a:p>
            <a:p>
              <a:pPr indent="-311150" lvl="0" marL="457200" marR="0" rtl="0" algn="l">
                <a:lnSpc>
                  <a:spcPct val="115000"/>
                </a:lnSpc>
                <a:spcBef>
                  <a:spcPts val="0"/>
                </a:spcBef>
                <a:spcAft>
                  <a:spcPts val="0"/>
                </a:spcAft>
                <a:buClr>
                  <a:srgbClr val="212529"/>
                </a:buClr>
                <a:buSzPts val="1300"/>
                <a:buFont typeface="Lato"/>
                <a:buChar char="●"/>
              </a:pPr>
              <a:r>
                <a:rPr lang="en" sz="1300">
                  <a:solidFill>
                    <a:srgbClr val="212529"/>
                  </a:solidFill>
                  <a:latin typeface="Lato"/>
                  <a:ea typeface="Lato"/>
                  <a:cs typeface="Lato"/>
                  <a:sym typeface="Lato"/>
                </a:rPr>
                <a:t>However, A_count was holding previous value for the whole period when count = 0  </a:t>
              </a:r>
              <a:endParaRPr i="0" sz="1300" u="none" cap="none" strike="noStrike">
                <a:solidFill>
                  <a:srgbClr val="212529"/>
                </a:solidFill>
                <a:latin typeface="Lato"/>
                <a:ea typeface="Lato"/>
                <a:cs typeface="Lato"/>
                <a:sym typeface="Lato"/>
              </a:endParaRPr>
            </a:p>
          </p:txBody>
        </p:sp>
        <p:sp>
          <p:nvSpPr>
            <p:cNvPr id="308" name="Google Shape;308;p37"/>
            <p:cNvSpPr txBox="1"/>
            <p:nvPr/>
          </p:nvSpPr>
          <p:spPr>
            <a:xfrm>
              <a:off x="5658100" y="3313750"/>
              <a:ext cx="2434200" cy="21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rgbClr val="BF9000"/>
                  </a:solidFill>
                  <a:latin typeface="Lato"/>
                  <a:ea typeface="Lato"/>
                  <a:cs typeface="Lato"/>
                  <a:sym typeface="Lato"/>
                </a:rPr>
                <a:t>Not operating down counting </a:t>
              </a:r>
              <a:endParaRPr b="1" sz="1300">
                <a:solidFill>
                  <a:srgbClr val="BF9000"/>
                </a:solidFill>
                <a:latin typeface="Lato"/>
                <a:ea typeface="Lato"/>
                <a:cs typeface="Lato"/>
                <a:sym typeface="Lato"/>
              </a:endParaRPr>
            </a:p>
          </p:txBody>
        </p:sp>
        <p:sp>
          <p:nvSpPr>
            <p:cNvPr id="309" name="Google Shape;309;p37"/>
            <p:cNvSpPr/>
            <p:nvPr/>
          </p:nvSpPr>
          <p:spPr>
            <a:xfrm>
              <a:off x="5561875" y="2122425"/>
              <a:ext cx="158700" cy="992100"/>
            </a:xfrm>
            <a:prstGeom prst="rect">
              <a:avLst/>
            </a:prstGeom>
            <a:no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10" name="Google Shape;310;p37"/>
            <p:cNvCxnSpPr/>
            <p:nvPr/>
          </p:nvCxnSpPr>
          <p:spPr>
            <a:xfrm rot="10800000">
              <a:off x="5658025" y="3114325"/>
              <a:ext cx="373800" cy="193200"/>
            </a:xfrm>
            <a:prstGeom prst="straightConnector1">
              <a:avLst/>
            </a:prstGeom>
            <a:noFill/>
            <a:ln cap="flat" cmpd="sng" w="19050">
              <a:solidFill>
                <a:srgbClr val="F1C232"/>
              </a:solidFill>
              <a:prstDash val="solid"/>
              <a:round/>
              <a:headEnd len="med" w="med" type="none"/>
              <a:tailEnd len="med" w="med" type="stealth"/>
            </a:ln>
          </p:spPr>
        </p:cxn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Enable Pin</a:t>
            </a:r>
            <a:r>
              <a:rPr b="1" lang="en"/>
              <a:t> Test</a:t>
            </a:r>
            <a:endParaRPr b="1"/>
          </a:p>
        </p:txBody>
      </p:sp>
      <p:pic>
        <p:nvPicPr>
          <p:cNvPr id="316" name="Google Shape;316;p38"/>
          <p:cNvPicPr preferRelativeResize="0"/>
          <p:nvPr/>
        </p:nvPicPr>
        <p:blipFill>
          <a:blip r:embed="rId3">
            <a:alphaModFix/>
          </a:blip>
          <a:stretch>
            <a:fillRect/>
          </a:stretch>
        </p:blipFill>
        <p:spPr>
          <a:xfrm>
            <a:off x="902800" y="1496275"/>
            <a:ext cx="3369300" cy="1706431"/>
          </a:xfrm>
          <a:prstGeom prst="rect">
            <a:avLst/>
          </a:prstGeom>
          <a:noFill/>
          <a:ln>
            <a:noFill/>
          </a:ln>
          <a:effectLst>
            <a:outerShdw blurRad="57150" rotWithShape="0" algn="bl" dir="5400000" dist="19050">
              <a:srgbClr val="000000">
                <a:alpha val="50000"/>
              </a:srgbClr>
            </a:outerShdw>
          </a:effectLst>
        </p:spPr>
      </p:pic>
      <p:pic>
        <p:nvPicPr>
          <p:cNvPr id="317" name="Google Shape;317;p38"/>
          <p:cNvPicPr preferRelativeResize="0"/>
          <p:nvPr/>
        </p:nvPicPr>
        <p:blipFill>
          <a:blip r:embed="rId4">
            <a:alphaModFix/>
          </a:blip>
          <a:stretch>
            <a:fillRect/>
          </a:stretch>
        </p:blipFill>
        <p:spPr>
          <a:xfrm>
            <a:off x="4543482" y="1300403"/>
            <a:ext cx="3575685" cy="1968525"/>
          </a:xfrm>
          <a:prstGeom prst="rect">
            <a:avLst/>
          </a:prstGeom>
          <a:noFill/>
          <a:ln>
            <a:noFill/>
          </a:ln>
          <a:effectLst>
            <a:outerShdw blurRad="57150" rotWithShape="0" algn="bl" dir="5400000" dist="19050">
              <a:srgbClr val="000000">
                <a:alpha val="50000"/>
              </a:srgbClr>
            </a:outerShdw>
          </a:effectLst>
        </p:spPr>
      </p:pic>
      <p:pic>
        <p:nvPicPr>
          <p:cNvPr id="318" name="Google Shape;318;p38"/>
          <p:cNvPicPr preferRelativeResize="0"/>
          <p:nvPr/>
        </p:nvPicPr>
        <p:blipFill>
          <a:blip r:embed="rId5">
            <a:alphaModFix/>
          </a:blip>
          <a:stretch>
            <a:fillRect/>
          </a:stretch>
        </p:blipFill>
        <p:spPr>
          <a:xfrm>
            <a:off x="1726137" y="3460828"/>
            <a:ext cx="5607750" cy="1570150"/>
          </a:xfrm>
          <a:prstGeom prst="rect">
            <a:avLst/>
          </a:prstGeom>
          <a:noFill/>
          <a:ln>
            <a:noFill/>
          </a:ln>
        </p:spPr>
      </p:pic>
      <p:sp>
        <p:nvSpPr>
          <p:cNvPr id="319" name="Google Shape;319;p38"/>
          <p:cNvSpPr/>
          <p:nvPr/>
        </p:nvSpPr>
        <p:spPr>
          <a:xfrm>
            <a:off x="5374137" y="3857978"/>
            <a:ext cx="777300" cy="361200"/>
          </a:xfrm>
          <a:prstGeom prst="ellipse">
            <a:avLst/>
          </a:prstGeom>
          <a:noFill/>
          <a:ln cap="flat" cmpd="sng" w="19050">
            <a:solidFill>
              <a:srgbClr val="FFE5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Load Value</a:t>
            </a:r>
            <a:r>
              <a:rPr b="1" lang="en"/>
              <a:t> Test</a:t>
            </a:r>
            <a:endParaRPr b="1"/>
          </a:p>
        </p:txBody>
      </p:sp>
      <p:pic>
        <p:nvPicPr>
          <p:cNvPr id="325" name="Google Shape;325;p39"/>
          <p:cNvPicPr preferRelativeResize="0"/>
          <p:nvPr/>
        </p:nvPicPr>
        <p:blipFill>
          <a:blip r:embed="rId3">
            <a:alphaModFix/>
          </a:blip>
          <a:stretch>
            <a:fillRect/>
          </a:stretch>
        </p:blipFill>
        <p:spPr>
          <a:xfrm>
            <a:off x="478321" y="1350767"/>
            <a:ext cx="3481859" cy="2058500"/>
          </a:xfrm>
          <a:prstGeom prst="rect">
            <a:avLst/>
          </a:prstGeom>
          <a:noFill/>
          <a:ln>
            <a:noFill/>
          </a:ln>
        </p:spPr>
      </p:pic>
      <p:pic>
        <p:nvPicPr>
          <p:cNvPr id="326" name="Google Shape;326;p39"/>
          <p:cNvPicPr preferRelativeResize="0"/>
          <p:nvPr/>
        </p:nvPicPr>
        <p:blipFill>
          <a:blip r:embed="rId4">
            <a:alphaModFix/>
          </a:blip>
          <a:stretch>
            <a:fillRect/>
          </a:stretch>
        </p:blipFill>
        <p:spPr>
          <a:xfrm>
            <a:off x="4035150" y="1345417"/>
            <a:ext cx="4771275" cy="1983974"/>
          </a:xfrm>
          <a:prstGeom prst="rect">
            <a:avLst/>
          </a:prstGeom>
          <a:noFill/>
          <a:ln>
            <a:noFill/>
          </a:ln>
        </p:spPr>
      </p:pic>
      <p:pic>
        <p:nvPicPr>
          <p:cNvPr id="327" name="Google Shape;327;p39"/>
          <p:cNvPicPr preferRelativeResize="0"/>
          <p:nvPr/>
        </p:nvPicPr>
        <p:blipFill>
          <a:blip r:embed="rId5">
            <a:alphaModFix/>
          </a:blip>
          <a:stretch>
            <a:fillRect/>
          </a:stretch>
        </p:blipFill>
        <p:spPr>
          <a:xfrm>
            <a:off x="1221300" y="3561992"/>
            <a:ext cx="6676600" cy="14623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Carry Out</a:t>
            </a:r>
            <a:r>
              <a:rPr b="1" lang="en"/>
              <a:t> Test</a:t>
            </a:r>
            <a:endParaRPr b="1"/>
          </a:p>
        </p:txBody>
      </p:sp>
      <p:grpSp>
        <p:nvGrpSpPr>
          <p:cNvPr id="333" name="Google Shape;333;p40"/>
          <p:cNvGrpSpPr/>
          <p:nvPr/>
        </p:nvGrpSpPr>
        <p:grpSpPr>
          <a:xfrm>
            <a:off x="440023" y="1396632"/>
            <a:ext cx="8250317" cy="3610450"/>
            <a:chOff x="440023" y="1254475"/>
            <a:chExt cx="8250317" cy="3610450"/>
          </a:xfrm>
        </p:grpSpPr>
        <p:pic>
          <p:nvPicPr>
            <p:cNvPr id="334" name="Google Shape;334;p40"/>
            <p:cNvPicPr preferRelativeResize="0"/>
            <p:nvPr/>
          </p:nvPicPr>
          <p:blipFill>
            <a:blip r:embed="rId3">
              <a:alphaModFix/>
            </a:blip>
            <a:stretch>
              <a:fillRect/>
            </a:stretch>
          </p:blipFill>
          <p:spPr>
            <a:xfrm>
              <a:off x="440025" y="1254475"/>
              <a:ext cx="4220050" cy="833600"/>
            </a:xfrm>
            <a:prstGeom prst="rect">
              <a:avLst/>
            </a:prstGeom>
            <a:noFill/>
            <a:ln>
              <a:noFill/>
            </a:ln>
          </p:spPr>
        </p:pic>
        <p:pic>
          <p:nvPicPr>
            <p:cNvPr id="335" name="Google Shape;335;p40"/>
            <p:cNvPicPr preferRelativeResize="0"/>
            <p:nvPr/>
          </p:nvPicPr>
          <p:blipFill>
            <a:blip r:embed="rId4">
              <a:alphaModFix/>
            </a:blip>
            <a:stretch>
              <a:fillRect/>
            </a:stretch>
          </p:blipFill>
          <p:spPr>
            <a:xfrm>
              <a:off x="440023" y="2228425"/>
              <a:ext cx="3808857" cy="2636500"/>
            </a:xfrm>
            <a:prstGeom prst="rect">
              <a:avLst/>
            </a:prstGeom>
            <a:noFill/>
            <a:ln>
              <a:noFill/>
            </a:ln>
          </p:spPr>
        </p:pic>
        <p:pic>
          <p:nvPicPr>
            <p:cNvPr id="336" name="Google Shape;336;p40"/>
            <p:cNvPicPr preferRelativeResize="0"/>
            <p:nvPr/>
          </p:nvPicPr>
          <p:blipFill>
            <a:blip r:embed="rId5">
              <a:alphaModFix/>
            </a:blip>
            <a:stretch>
              <a:fillRect/>
            </a:stretch>
          </p:blipFill>
          <p:spPr>
            <a:xfrm>
              <a:off x="4353525" y="3247249"/>
              <a:ext cx="4336815" cy="1058400"/>
            </a:xfrm>
            <a:prstGeom prst="rect">
              <a:avLst/>
            </a:prstGeom>
            <a:noFill/>
            <a:ln>
              <a:noFill/>
            </a:ln>
          </p:spPr>
        </p:pic>
        <p:sp>
          <p:nvSpPr>
            <p:cNvPr id="337" name="Google Shape;337;p40"/>
            <p:cNvSpPr/>
            <p:nvPr/>
          </p:nvSpPr>
          <p:spPr>
            <a:xfrm>
              <a:off x="6238525" y="4022186"/>
              <a:ext cx="233400" cy="287700"/>
            </a:xfrm>
            <a:prstGeom prst="ellipse">
              <a:avLst/>
            </a:prstGeom>
            <a:noFill/>
            <a:ln cap="flat" cmpd="sng" w="19050">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8" name="Google Shape;338;p40"/>
            <p:cNvSpPr txBox="1"/>
            <p:nvPr/>
          </p:nvSpPr>
          <p:spPr>
            <a:xfrm>
              <a:off x="4377425" y="2227900"/>
              <a:ext cx="4255800" cy="876600"/>
            </a:xfrm>
            <a:prstGeom prst="rect">
              <a:avLst/>
            </a:prstGeom>
            <a:solidFill>
              <a:srgbClr val="D0E0E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Reported bug for C_out on the Up_Counting_test and down counting operation on the Down_Counting_test previously.</a:t>
              </a:r>
              <a:endParaRPr>
                <a:latin typeface="Lato"/>
                <a:ea typeface="Lato"/>
                <a:cs typeface="Lato"/>
                <a:sym typeface="Lato"/>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Random</a:t>
            </a:r>
            <a:r>
              <a:rPr b="1" lang="en"/>
              <a:t> Test</a:t>
            </a:r>
            <a:endParaRPr b="1"/>
          </a:p>
        </p:txBody>
      </p:sp>
      <p:pic>
        <p:nvPicPr>
          <p:cNvPr id="344" name="Google Shape;344;p41"/>
          <p:cNvPicPr preferRelativeResize="0"/>
          <p:nvPr/>
        </p:nvPicPr>
        <p:blipFill>
          <a:blip r:embed="rId3">
            <a:alphaModFix/>
          </a:blip>
          <a:stretch>
            <a:fillRect/>
          </a:stretch>
        </p:blipFill>
        <p:spPr>
          <a:xfrm>
            <a:off x="2271897" y="1309662"/>
            <a:ext cx="4364706" cy="850950"/>
          </a:xfrm>
          <a:prstGeom prst="rect">
            <a:avLst/>
          </a:prstGeom>
          <a:noFill/>
          <a:ln>
            <a:noFill/>
          </a:ln>
          <a:effectLst>
            <a:outerShdw blurRad="57150" rotWithShape="0" algn="bl" dir="5400000" dist="19050">
              <a:srgbClr val="000000">
                <a:alpha val="50000"/>
              </a:srgbClr>
            </a:outerShdw>
          </a:effectLst>
        </p:spPr>
      </p:pic>
      <p:pic>
        <p:nvPicPr>
          <p:cNvPr id="345" name="Google Shape;345;p41"/>
          <p:cNvPicPr preferRelativeResize="0"/>
          <p:nvPr/>
        </p:nvPicPr>
        <p:blipFill>
          <a:blip r:embed="rId4">
            <a:alphaModFix/>
          </a:blip>
          <a:stretch>
            <a:fillRect/>
          </a:stretch>
        </p:blipFill>
        <p:spPr>
          <a:xfrm>
            <a:off x="1972043" y="2225175"/>
            <a:ext cx="4964414" cy="1287600"/>
          </a:xfrm>
          <a:prstGeom prst="rect">
            <a:avLst/>
          </a:prstGeom>
          <a:noFill/>
          <a:ln>
            <a:noFill/>
          </a:ln>
          <a:effectLst>
            <a:outerShdw blurRad="57150" rotWithShape="0" algn="bl" dir="5400000" dist="19050">
              <a:srgbClr val="000000">
                <a:alpha val="50000"/>
              </a:srgbClr>
            </a:outerShdw>
          </a:effectLst>
        </p:spPr>
      </p:pic>
      <p:pic>
        <p:nvPicPr>
          <p:cNvPr id="346" name="Google Shape;346;p41"/>
          <p:cNvPicPr preferRelativeResize="0"/>
          <p:nvPr/>
        </p:nvPicPr>
        <p:blipFill>
          <a:blip r:embed="rId5">
            <a:alphaModFix/>
          </a:blip>
          <a:stretch>
            <a:fillRect/>
          </a:stretch>
        </p:blipFill>
        <p:spPr>
          <a:xfrm>
            <a:off x="1684288" y="3577362"/>
            <a:ext cx="5539901" cy="14868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Bash Scripts</a:t>
            </a:r>
            <a:endParaRPr b="1"/>
          </a:p>
        </p:txBody>
      </p:sp>
      <p:pic>
        <p:nvPicPr>
          <p:cNvPr id="352" name="Google Shape;352;p42"/>
          <p:cNvPicPr preferRelativeResize="0"/>
          <p:nvPr/>
        </p:nvPicPr>
        <p:blipFill>
          <a:blip r:embed="rId3">
            <a:alphaModFix/>
          </a:blip>
          <a:stretch>
            <a:fillRect/>
          </a:stretch>
        </p:blipFill>
        <p:spPr>
          <a:xfrm>
            <a:off x="361446" y="1596789"/>
            <a:ext cx="8124008" cy="1871100"/>
          </a:xfrm>
          <a:prstGeom prst="rect">
            <a:avLst/>
          </a:prstGeom>
          <a:noFill/>
          <a:ln>
            <a:noFill/>
          </a:ln>
        </p:spPr>
      </p:pic>
      <p:pic>
        <p:nvPicPr>
          <p:cNvPr id="353" name="Google Shape;353;p42"/>
          <p:cNvPicPr preferRelativeResize="0"/>
          <p:nvPr/>
        </p:nvPicPr>
        <p:blipFill>
          <a:blip r:embed="rId4">
            <a:alphaModFix/>
          </a:blip>
          <a:stretch>
            <a:fillRect/>
          </a:stretch>
        </p:blipFill>
        <p:spPr>
          <a:xfrm>
            <a:off x="2729148" y="3621914"/>
            <a:ext cx="3276600" cy="1466850"/>
          </a:xfrm>
          <a:prstGeom prst="rect">
            <a:avLst/>
          </a:prstGeom>
          <a:noFill/>
          <a:ln>
            <a:noFill/>
          </a:ln>
        </p:spPr>
      </p:pic>
      <p:sp>
        <p:nvSpPr>
          <p:cNvPr id="354" name="Google Shape;354;p42"/>
          <p:cNvSpPr txBox="1"/>
          <p:nvPr/>
        </p:nvSpPr>
        <p:spPr>
          <a:xfrm>
            <a:off x="437150" y="1269964"/>
            <a:ext cx="2660700" cy="249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600">
                <a:latin typeface="Lato"/>
                <a:ea typeface="Lato"/>
                <a:cs typeface="Lato"/>
                <a:sym typeface="Lato"/>
              </a:rPr>
              <a:t>Run script:</a:t>
            </a:r>
            <a:endParaRPr b="1" sz="1600">
              <a:latin typeface="Lato"/>
              <a:ea typeface="Lato"/>
              <a:cs typeface="Lato"/>
              <a:sym typeface="Lato"/>
            </a:endParaRPr>
          </a:p>
        </p:txBody>
      </p:sp>
      <p:sp>
        <p:nvSpPr>
          <p:cNvPr id="355" name="Google Shape;355;p42"/>
          <p:cNvSpPr txBox="1"/>
          <p:nvPr/>
        </p:nvSpPr>
        <p:spPr>
          <a:xfrm>
            <a:off x="370575" y="3621914"/>
            <a:ext cx="1959600" cy="249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600">
                <a:latin typeface="Lato"/>
                <a:ea typeface="Lato"/>
                <a:cs typeface="Lato"/>
                <a:sym typeface="Lato"/>
              </a:rPr>
              <a:t>Regression  script:</a:t>
            </a:r>
            <a:endParaRPr b="1" sz="1600">
              <a:latin typeface="Lato"/>
              <a:ea typeface="Lato"/>
              <a:cs typeface="Lato"/>
              <a:sym typeface="La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Coverage Report</a:t>
            </a:r>
            <a:endParaRPr b="1"/>
          </a:p>
        </p:txBody>
      </p:sp>
      <p:sp>
        <p:nvSpPr>
          <p:cNvPr id="361" name="Google Shape;361;p43"/>
          <p:cNvSpPr txBox="1"/>
          <p:nvPr/>
        </p:nvSpPr>
        <p:spPr>
          <a:xfrm>
            <a:off x="513775" y="1319039"/>
            <a:ext cx="4395600" cy="28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600">
                <a:latin typeface="Lato"/>
                <a:ea typeface="Lato"/>
                <a:cs typeface="Lato"/>
                <a:sym typeface="Lato"/>
              </a:rPr>
              <a:t>Overall Coverage: </a:t>
            </a:r>
            <a:endParaRPr b="1" sz="1600">
              <a:latin typeface="Lato"/>
              <a:ea typeface="Lato"/>
              <a:cs typeface="Lato"/>
              <a:sym typeface="Lato"/>
            </a:endParaRPr>
          </a:p>
        </p:txBody>
      </p:sp>
      <p:pic>
        <p:nvPicPr>
          <p:cNvPr id="362" name="Google Shape;362;p43"/>
          <p:cNvPicPr preferRelativeResize="0"/>
          <p:nvPr/>
        </p:nvPicPr>
        <p:blipFill>
          <a:blip r:embed="rId3">
            <a:alphaModFix/>
          </a:blip>
          <a:stretch>
            <a:fillRect/>
          </a:stretch>
        </p:blipFill>
        <p:spPr>
          <a:xfrm>
            <a:off x="352650" y="1680514"/>
            <a:ext cx="8438699" cy="876525"/>
          </a:xfrm>
          <a:prstGeom prst="rect">
            <a:avLst/>
          </a:prstGeom>
          <a:noFill/>
          <a:ln>
            <a:noFill/>
          </a:ln>
          <a:effectLst>
            <a:outerShdw blurRad="57150" rotWithShape="0" algn="bl" dir="5400000" dist="19050">
              <a:srgbClr val="000000">
                <a:alpha val="50000"/>
              </a:srgbClr>
            </a:outerShdw>
          </a:effectLst>
        </p:spPr>
      </p:pic>
      <p:sp>
        <p:nvSpPr>
          <p:cNvPr id="363" name="Google Shape;363;p43"/>
          <p:cNvSpPr txBox="1"/>
          <p:nvPr/>
        </p:nvSpPr>
        <p:spPr>
          <a:xfrm>
            <a:off x="439800" y="2660714"/>
            <a:ext cx="2271300" cy="28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600">
                <a:latin typeface="Lato"/>
                <a:ea typeface="Lato"/>
                <a:cs typeface="Lato"/>
                <a:sym typeface="Lato"/>
              </a:rPr>
              <a:t>Covergroup bins:</a:t>
            </a:r>
            <a:endParaRPr b="1" sz="1600">
              <a:latin typeface="Lato"/>
              <a:ea typeface="Lato"/>
              <a:cs typeface="Lato"/>
              <a:sym typeface="Lato"/>
            </a:endParaRPr>
          </a:p>
        </p:txBody>
      </p:sp>
      <p:pic>
        <p:nvPicPr>
          <p:cNvPr id="364" name="Google Shape;364;p43"/>
          <p:cNvPicPr preferRelativeResize="0"/>
          <p:nvPr/>
        </p:nvPicPr>
        <p:blipFill>
          <a:blip r:embed="rId4">
            <a:alphaModFix/>
          </a:blip>
          <a:stretch>
            <a:fillRect/>
          </a:stretch>
        </p:blipFill>
        <p:spPr>
          <a:xfrm>
            <a:off x="589950" y="3020714"/>
            <a:ext cx="8140742" cy="20261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Coverage Report (cross coverage)</a:t>
            </a:r>
            <a:endParaRPr b="1"/>
          </a:p>
        </p:txBody>
      </p:sp>
      <p:pic>
        <p:nvPicPr>
          <p:cNvPr id="370" name="Google Shape;370;p44"/>
          <p:cNvPicPr preferRelativeResize="0"/>
          <p:nvPr/>
        </p:nvPicPr>
        <p:blipFill>
          <a:blip r:embed="rId3">
            <a:alphaModFix/>
          </a:blip>
          <a:stretch>
            <a:fillRect/>
          </a:stretch>
        </p:blipFill>
        <p:spPr>
          <a:xfrm>
            <a:off x="1333250" y="1424274"/>
            <a:ext cx="5943600" cy="3095625"/>
          </a:xfrm>
          <a:prstGeom prst="rect">
            <a:avLst/>
          </a:prstGeom>
          <a:noFill/>
          <a:ln>
            <a:noFill/>
          </a:ln>
          <a:effectLst>
            <a:outerShdw blurRad="57150" rotWithShape="0" algn="bl" dir="5400000" dist="19050">
              <a:srgbClr val="000000">
                <a:alpha val="50000"/>
              </a:srgbClr>
            </a:outerShdw>
          </a:effectLst>
        </p:spPr>
      </p:pic>
      <p:sp>
        <p:nvSpPr>
          <p:cNvPr id="371" name="Google Shape;371;p44"/>
          <p:cNvSpPr txBox="1"/>
          <p:nvPr/>
        </p:nvSpPr>
        <p:spPr>
          <a:xfrm>
            <a:off x="2324150" y="4616024"/>
            <a:ext cx="3811200" cy="289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latin typeface="Lato"/>
                <a:ea typeface="Lato"/>
                <a:cs typeface="Lato"/>
                <a:sym typeface="Lato"/>
              </a:rPr>
              <a:t>Cross coverage for up counting operation</a:t>
            </a:r>
            <a:endParaRPr b="1">
              <a:latin typeface="Lato"/>
              <a:ea typeface="Lato"/>
              <a:cs typeface="Lato"/>
              <a:sym typeface="La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Coverage Report (cross coverage)</a:t>
            </a:r>
            <a:endParaRPr b="1"/>
          </a:p>
        </p:txBody>
      </p:sp>
      <p:pic>
        <p:nvPicPr>
          <p:cNvPr id="377" name="Google Shape;377;p45"/>
          <p:cNvPicPr preferRelativeResize="0"/>
          <p:nvPr/>
        </p:nvPicPr>
        <p:blipFill>
          <a:blip r:embed="rId3">
            <a:alphaModFix/>
          </a:blip>
          <a:stretch>
            <a:fillRect/>
          </a:stretch>
        </p:blipFill>
        <p:spPr>
          <a:xfrm>
            <a:off x="470000" y="1789015"/>
            <a:ext cx="4980649" cy="2530225"/>
          </a:xfrm>
          <a:prstGeom prst="rect">
            <a:avLst/>
          </a:prstGeom>
          <a:noFill/>
          <a:ln>
            <a:noFill/>
          </a:ln>
          <a:effectLst>
            <a:outerShdw blurRad="57150" rotWithShape="0" algn="bl" dir="5400000" dist="19050">
              <a:srgbClr val="000000">
                <a:alpha val="50000"/>
              </a:srgbClr>
            </a:outerShdw>
          </a:effectLst>
        </p:spPr>
      </p:pic>
      <p:sp>
        <p:nvSpPr>
          <p:cNvPr id="378" name="Google Shape;378;p45"/>
          <p:cNvSpPr txBox="1"/>
          <p:nvPr/>
        </p:nvSpPr>
        <p:spPr>
          <a:xfrm>
            <a:off x="1107075" y="4508853"/>
            <a:ext cx="4108500" cy="289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latin typeface="Lato"/>
                <a:ea typeface="Lato"/>
                <a:cs typeface="Lato"/>
                <a:sym typeface="Lato"/>
              </a:rPr>
              <a:t>Cross coverage</a:t>
            </a:r>
            <a:r>
              <a:rPr b="1" lang="en" sz="1600">
                <a:latin typeface="Lato"/>
                <a:ea typeface="Lato"/>
                <a:cs typeface="Lato"/>
                <a:sym typeface="Lato"/>
              </a:rPr>
              <a:t> </a:t>
            </a:r>
            <a:r>
              <a:rPr b="1" lang="en">
                <a:latin typeface="Lato"/>
                <a:ea typeface="Lato"/>
                <a:cs typeface="Lato"/>
                <a:sym typeface="Lato"/>
              </a:rPr>
              <a:t>for down counting operation</a:t>
            </a:r>
            <a:endParaRPr b="1">
              <a:latin typeface="Lato"/>
              <a:ea typeface="Lato"/>
              <a:cs typeface="Lato"/>
              <a:sym typeface="Lato"/>
            </a:endParaRPr>
          </a:p>
        </p:txBody>
      </p:sp>
      <p:pic>
        <p:nvPicPr>
          <p:cNvPr id="379" name="Google Shape;379;p45"/>
          <p:cNvPicPr preferRelativeResize="0"/>
          <p:nvPr/>
        </p:nvPicPr>
        <p:blipFill>
          <a:blip r:embed="rId4">
            <a:alphaModFix/>
          </a:blip>
          <a:stretch>
            <a:fillRect/>
          </a:stretch>
        </p:blipFill>
        <p:spPr>
          <a:xfrm>
            <a:off x="5688625" y="1490903"/>
            <a:ext cx="2790800" cy="3017950"/>
          </a:xfrm>
          <a:prstGeom prst="rect">
            <a:avLst/>
          </a:prstGeom>
          <a:noFill/>
          <a:ln>
            <a:noFill/>
          </a:ln>
          <a:effectLst>
            <a:outerShdw blurRad="57150" rotWithShape="0" algn="bl" dir="5400000" dist="19050">
              <a:srgbClr val="000000">
                <a:alpha val="50000"/>
              </a:srgbClr>
            </a:outerShdw>
          </a:effectLst>
        </p:spPr>
      </p:pic>
      <p:sp>
        <p:nvSpPr>
          <p:cNvPr id="380" name="Google Shape;380;p45"/>
          <p:cNvSpPr txBox="1"/>
          <p:nvPr/>
        </p:nvSpPr>
        <p:spPr>
          <a:xfrm>
            <a:off x="5688625" y="4575103"/>
            <a:ext cx="3077400" cy="289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latin typeface="Lato"/>
                <a:ea typeface="Lato"/>
                <a:cs typeface="Lato"/>
                <a:sym typeface="Lato"/>
              </a:rPr>
              <a:t>Cross coverage for load operation</a:t>
            </a:r>
            <a:endParaRPr b="1">
              <a:latin typeface="Lato"/>
              <a:ea typeface="Lato"/>
              <a:cs typeface="Lato"/>
              <a:sym typeface="La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6"/>
          <p:cNvSpPr txBox="1"/>
          <p:nvPr/>
        </p:nvSpPr>
        <p:spPr>
          <a:xfrm>
            <a:off x="494525" y="601375"/>
            <a:ext cx="7796700" cy="3334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600">
                <a:solidFill>
                  <a:schemeClr val="accent1"/>
                </a:solidFill>
                <a:latin typeface="Roboto"/>
                <a:ea typeface="Roboto"/>
                <a:cs typeface="Roboto"/>
                <a:sym typeface="Roboto"/>
              </a:rPr>
              <a:t>Thank You</a:t>
            </a:r>
            <a:endParaRPr sz="9600">
              <a:solidFill>
                <a:schemeClr val="accent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